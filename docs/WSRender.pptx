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5" r:id="rId21"/>
    <p:sldId id="277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" y="11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6DFE-44E3-4B75-A7E9-5CCD50905EE0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23D6A-C255-4CD8-A098-5A3E977032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6569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6DFE-44E3-4B75-A7E9-5CCD50905EE0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23D6A-C255-4CD8-A098-5A3E977032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429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6DFE-44E3-4B75-A7E9-5CCD50905EE0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23D6A-C255-4CD8-A098-5A3E977032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210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6DFE-44E3-4B75-A7E9-5CCD50905EE0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23D6A-C255-4CD8-A098-5A3E977032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88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6DFE-44E3-4B75-A7E9-5CCD50905EE0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23D6A-C255-4CD8-A098-5A3E977032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524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6DFE-44E3-4B75-A7E9-5CCD50905EE0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23D6A-C255-4CD8-A098-5A3E977032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261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6DFE-44E3-4B75-A7E9-5CCD50905EE0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23D6A-C255-4CD8-A098-5A3E977032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735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6DFE-44E3-4B75-A7E9-5CCD50905EE0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23D6A-C255-4CD8-A098-5A3E977032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420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6DFE-44E3-4B75-A7E9-5CCD50905EE0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23D6A-C255-4CD8-A098-5A3E977032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57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6DFE-44E3-4B75-A7E9-5CCD50905EE0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23D6A-C255-4CD8-A098-5A3E977032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7564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6DFE-44E3-4B75-A7E9-5CCD50905EE0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23D6A-C255-4CD8-A098-5A3E977032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943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316DFE-44E3-4B75-A7E9-5CCD50905EE0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C23D6A-C255-4CD8-A098-5A3E977032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467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 smtClean="0"/>
              <a:t>WaterSurfaceRender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2026.6.30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6001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 smtClean="0"/>
              <a:t>1. Simulating </a:t>
            </a:r>
            <a:r>
              <a:rPr lang="en-US" altLang="zh-CN" sz="5400" dirty="0"/>
              <a:t>Ocean Water</a:t>
            </a:r>
            <a:endParaRPr lang="zh-CN" altLang="en-US" sz="5400" dirty="0"/>
          </a:p>
        </p:txBody>
      </p:sp>
    </p:spTree>
    <p:extLst>
      <p:ext uri="{BB962C8B-B14F-4D97-AF65-F5344CB8AC3E}">
        <p14:creationId xmlns:p14="http://schemas.microsoft.com/office/powerpoint/2010/main" val="512924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 err="1" smtClean="0"/>
              <a:t>Navier</a:t>
            </a:r>
            <a:r>
              <a:rPr lang="en-US" altLang="zh-CN" sz="4000" dirty="0" smtClean="0"/>
              <a:t>-Stokes Equations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12265"/>
            <a:ext cx="10515600" cy="544238"/>
          </a:xfrm>
        </p:spPr>
        <p:txBody>
          <a:bodyPr>
            <a:normAutofit/>
          </a:bodyPr>
          <a:lstStyle/>
          <a:p>
            <a:r>
              <a:rPr lang="zh-CN" altLang="en-US" sz="2400" dirty="0" smtClean="0"/>
              <a:t>从最根本的物理出发，水是流体，流体的运动由 </a:t>
            </a:r>
            <a:r>
              <a:rPr lang="en-US" altLang="zh-CN" sz="2400" dirty="0" err="1" smtClean="0"/>
              <a:t>Navier</a:t>
            </a:r>
            <a:r>
              <a:rPr lang="en-US" altLang="zh-CN" sz="2400" dirty="0" smtClean="0"/>
              <a:t>–Stokes </a:t>
            </a:r>
            <a:r>
              <a:rPr lang="zh-CN" altLang="en-US" sz="2400" dirty="0" smtClean="0"/>
              <a:t>描述</a:t>
            </a:r>
            <a:endParaRPr lang="en-US" altLang="zh-CN" sz="2400" dirty="0" smtClean="0"/>
          </a:p>
          <a:p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680" y="2095543"/>
            <a:ext cx="6888480" cy="1274988"/>
          </a:xfrm>
          <a:prstGeom prst="rect">
            <a:avLst/>
          </a:prstGeom>
        </p:spPr>
      </p:pic>
      <p:sp>
        <p:nvSpPr>
          <p:cNvPr id="5" name="内容占位符 2"/>
          <p:cNvSpPr txBox="1">
            <a:spLocks/>
          </p:cNvSpPr>
          <p:nvPr/>
        </p:nvSpPr>
        <p:spPr>
          <a:xfrm>
            <a:off x="533400" y="3403643"/>
            <a:ext cx="11338560" cy="33324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以上为流体力学最基本</a:t>
            </a:r>
            <a:r>
              <a:rPr lang="zh-CN" altLang="en-US" sz="2000" dirty="0" smtClean="0"/>
              <a:t>的 </a:t>
            </a:r>
            <a:r>
              <a:rPr lang="zh-CN" altLang="en-US" sz="2000" b="1" dirty="0" smtClean="0"/>
              <a:t>通用</a:t>
            </a:r>
            <a:r>
              <a:rPr lang="en-US" altLang="zh-CN" sz="2000" b="1" dirty="0" smtClean="0"/>
              <a:t>N-S</a:t>
            </a:r>
            <a:r>
              <a:rPr lang="zh-CN" altLang="en-US" sz="2000" b="1" dirty="0" smtClean="0"/>
              <a:t>方程</a:t>
            </a:r>
            <a:r>
              <a:rPr lang="zh-CN" altLang="en-US" sz="2000" dirty="0" smtClean="0"/>
              <a:t>，</a:t>
            </a:r>
            <a:r>
              <a:rPr lang="zh-CN" altLang="en-US" sz="2000" dirty="0"/>
              <a:t>用于描述流体运动的动量守恒</a:t>
            </a:r>
            <a:r>
              <a:rPr lang="zh-CN" altLang="en-US" sz="2000" dirty="0" smtClean="0"/>
              <a:t>；</a:t>
            </a:r>
            <a:endParaRPr lang="en-US" altLang="zh-CN" sz="2000" dirty="0" smtClean="0"/>
          </a:p>
          <a:p>
            <a:r>
              <a:rPr lang="zh-CN" altLang="en-US" sz="2000" dirty="0" smtClean="0"/>
              <a:t>本质</a:t>
            </a:r>
            <a:r>
              <a:rPr lang="zh-CN" altLang="en-US" sz="2000" dirty="0"/>
              <a:t>上是牛顿第二定律（</a:t>
            </a:r>
            <a:r>
              <a:rPr lang="en-US" altLang="zh-CN" sz="2000" dirty="0"/>
              <a:t>F=ma</a:t>
            </a:r>
            <a:r>
              <a:rPr lang="zh-CN" altLang="en-US" sz="2000" dirty="0"/>
              <a:t>）在连续流体上的表达</a:t>
            </a:r>
            <a:endParaRPr lang="en-US" altLang="zh-CN" sz="2000" dirty="0"/>
          </a:p>
          <a:p>
            <a:r>
              <a:rPr lang="zh-CN" altLang="en-US" sz="2000" dirty="0"/>
              <a:t>等式左边</a:t>
            </a:r>
            <a:r>
              <a:rPr lang="zh-CN" altLang="en-US" sz="2000" dirty="0" smtClean="0"/>
              <a:t>：</a:t>
            </a:r>
            <a:r>
              <a:rPr lang="zh-CN" altLang="en-US" sz="2000" b="1" dirty="0" smtClean="0"/>
              <a:t>单位体积</a:t>
            </a:r>
            <a:r>
              <a:rPr lang="zh-CN" altLang="en-US" sz="2000" dirty="0" smtClean="0"/>
              <a:t>流体</a:t>
            </a:r>
            <a:r>
              <a:rPr lang="zh-CN" altLang="en-US" sz="2000" dirty="0"/>
              <a:t>的惯性力（质量 </a:t>
            </a:r>
            <a:r>
              <a:rPr lang="en-US" altLang="zh-CN" sz="2000" dirty="0"/>
              <a:t>× </a:t>
            </a:r>
            <a:r>
              <a:rPr lang="zh-CN" altLang="en-US" sz="2000" dirty="0"/>
              <a:t>加速度</a:t>
            </a:r>
            <a:r>
              <a:rPr lang="zh-CN" altLang="en-US" sz="2000" dirty="0" smtClean="0"/>
              <a:t>）</a:t>
            </a:r>
            <a:endParaRPr lang="en-US" altLang="zh-CN" sz="2000" dirty="0"/>
          </a:p>
          <a:p>
            <a:r>
              <a:rPr lang="zh-CN" altLang="en-US" sz="2000" dirty="0"/>
              <a:t>等式右边：作用在</a:t>
            </a:r>
            <a:r>
              <a:rPr lang="zh-CN" altLang="en-US" sz="2000" b="1" dirty="0"/>
              <a:t>单位体积</a:t>
            </a:r>
            <a:r>
              <a:rPr lang="zh-CN" altLang="en-US" sz="2000" dirty="0"/>
              <a:t>流体上的所</a:t>
            </a:r>
            <a:r>
              <a:rPr lang="zh-CN" altLang="en-US" sz="2000" dirty="0" smtClean="0"/>
              <a:t>有力</a:t>
            </a:r>
            <a:r>
              <a:rPr lang="zh-CN" altLang="en-US" sz="2000" dirty="0"/>
              <a:t>的</a:t>
            </a:r>
            <a:r>
              <a:rPr lang="zh-CN" altLang="en-US" sz="2000" dirty="0" smtClean="0"/>
              <a:t>合力</a:t>
            </a:r>
            <a:endParaRPr lang="en-US" altLang="zh-CN" sz="2000" dirty="0"/>
          </a:p>
          <a:p>
            <a:r>
              <a:rPr lang="zh-CN" altLang="en-US" sz="2000" dirty="0"/>
              <a:t>其中</a:t>
            </a:r>
            <a:r>
              <a:rPr lang="zh-CN" altLang="en-US" sz="2000" dirty="0" smtClean="0"/>
              <a:t>，</a:t>
            </a:r>
            <a:endParaRPr lang="en-US" altLang="zh-CN" sz="2000" dirty="0" smtClean="0"/>
          </a:p>
          <a:p>
            <a:pPr lvl="1"/>
            <a:r>
              <a:rPr lang="el-GR" altLang="zh-CN" sz="1800" dirty="0" smtClean="0"/>
              <a:t>ρ</a:t>
            </a:r>
            <a:r>
              <a:rPr lang="en-US" altLang="zh-CN" sz="1800" dirty="0" smtClean="0"/>
              <a:t> </a:t>
            </a:r>
            <a:r>
              <a:rPr lang="el-GR" altLang="zh-CN" sz="1800" dirty="0" smtClean="0"/>
              <a:t>∂</a:t>
            </a:r>
            <a:r>
              <a:rPr lang="en-US" altLang="zh-CN" sz="1800" dirty="0" smtClean="0"/>
              <a:t>u </a:t>
            </a:r>
            <a:r>
              <a:rPr lang="en-US" altLang="zh-CN" sz="1800" dirty="0"/>
              <a:t>/ </a:t>
            </a:r>
            <a:r>
              <a:rPr lang="en-US" altLang="zh-CN" sz="1800" dirty="0" smtClean="0"/>
              <a:t>∂t​ </a:t>
            </a:r>
            <a:r>
              <a:rPr lang="zh-CN" altLang="en-US" sz="1800" dirty="0" smtClean="0"/>
              <a:t>密度 </a:t>
            </a:r>
            <a:r>
              <a:rPr lang="en-US" altLang="zh-CN" sz="1800" dirty="0" smtClean="0"/>
              <a:t>· </a:t>
            </a:r>
            <a:r>
              <a:rPr lang="zh-CN" altLang="en-US" sz="1800" dirty="0" smtClean="0"/>
              <a:t>局部加速度，</a:t>
            </a:r>
            <a:r>
              <a:rPr lang="zh-CN" altLang="en-US" sz="1800" dirty="0" smtClean="0"/>
              <a:t>表示</a:t>
            </a:r>
            <a:r>
              <a:rPr lang="zh-CN" altLang="en-US" sz="1800" dirty="0"/>
              <a:t>非定常</a:t>
            </a:r>
            <a:r>
              <a:rPr lang="zh-CN" altLang="en-US" sz="1800" dirty="0" smtClean="0"/>
              <a:t>惯性力（即使位置</a:t>
            </a:r>
            <a:r>
              <a:rPr lang="zh-CN" altLang="en-US" sz="1800" dirty="0"/>
              <a:t>固定</a:t>
            </a:r>
            <a:r>
              <a:rPr lang="zh-CN" altLang="en-US" sz="1800" dirty="0" smtClean="0"/>
              <a:t>，速度也会随时</a:t>
            </a:r>
            <a:r>
              <a:rPr lang="zh-CN" altLang="en-US" sz="1800" dirty="0"/>
              <a:t>间</a:t>
            </a:r>
            <a:r>
              <a:rPr lang="zh-CN" altLang="en-US" sz="1800" dirty="0" smtClean="0"/>
              <a:t>改变 如波浪起伏）</a:t>
            </a:r>
            <a:endParaRPr lang="en-US" altLang="zh-CN" sz="1800" dirty="0" smtClean="0"/>
          </a:p>
          <a:p>
            <a:pPr lvl="1"/>
            <a:r>
              <a:rPr lang="el-GR" altLang="zh-CN" sz="1800" dirty="0"/>
              <a:t>ρ</a:t>
            </a:r>
            <a:r>
              <a:rPr lang="en-US" altLang="zh-CN" sz="1800" dirty="0"/>
              <a:t> u⋅∇</a:t>
            </a:r>
            <a:r>
              <a:rPr lang="en-US" altLang="zh-CN" sz="1800" dirty="0" smtClean="0"/>
              <a:t>u </a:t>
            </a:r>
            <a:r>
              <a:rPr lang="zh-CN" altLang="en-US" sz="1800" dirty="0" smtClean="0"/>
              <a:t>密度</a:t>
            </a:r>
            <a:r>
              <a:rPr lang="en-US" altLang="zh-CN" sz="1800" dirty="0"/>
              <a:t> </a:t>
            </a:r>
            <a:r>
              <a:rPr lang="en-US" altLang="zh-CN" sz="1800" dirty="0" smtClean="0"/>
              <a:t>· </a:t>
            </a:r>
            <a:r>
              <a:rPr lang="zh-CN" altLang="en-US" sz="1800" dirty="0" smtClean="0"/>
              <a:t>对流加速度，表示对流惯性力（流体质点因运动到新区域产生的速度变化 形成湍流涡旋）</a:t>
            </a:r>
            <a:endParaRPr lang="en-US" altLang="zh-CN" sz="1800" dirty="0"/>
          </a:p>
          <a:p>
            <a:pPr lvl="1"/>
            <a:r>
              <a:rPr lang="en-US" altLang="zh-CN" sz="1800" dirty="0"/>
              <a:t>−∇p </a:t>
            </a:r>
            <a:r>
              <a:rPr lang="zh-CN" altLang="en-US" sz="1800" dirty="0" smtClean="0"/>
              <a:t>压力梯度力，</a:t>
            </a:r>
            <a:r>
              <a:rPr lang="zh-CN" altLang="en-US" sz="1800" dirty="0"/>
              <a:t>流体从高压向低压运动。负号表示力的方向与压力增加方向</a:t>
            </a:r>
            <a:r>
              <a:rPr lang="zh-CN" altLang="en-US" sz="1800" dirty="0" smtClean="0"/>
              <a:t>相反</a:t>
            </a:r>
            <a:endParaRPr lang="en-US" altLang="zh-CN" sz="1800" dirty="0" smtClean="0"/>
          </a:p>
          <a:p>
            <a:pPr lvl="1"/>
            <a:r>
              <a:rPr lang="el-GR" altLang="zh-CN" sz="1800" dirty="0"/>
              <a:t>∇⋅</a:t>
            </a:r>
            <a:r>
              <a:rPr lang="el-GR" altLang="zh-CN" sz="1800" dirty="0" smtClean="0"/>
              <a:t>τ</a:t>
            </a:r>
            <a:r>
              <a:rPr lang="en-US" altLang="zh-CN" sz="1800" dirty="0" smtClean="0"/>
              <a:t> </a:t>
            </a:r>
            <a:r>
              <a:rPr lang="zh-CN" altLang="en-US" sz="1800" dirty="0" smtClean="0"/>
              <a:t>粘性力，由于相邻层速度不同产生的内摩擦力，对于理想流体该项为</a:t>
            </a:r>
            <a:r>
              <a:rPr lang="en-US" altLang="zh-CN" sz="1800" dirty="0" smtClean="0"/>
              <a:t>0</a:t>
            </a:r>
          </a:p>
          <a:p>
            <a:pPr lvl="1"/>
            <a:r>
              <a:rPr lang="el-GR" altLang="zh-CN" sz="1800" dirty="0" smtClean="0"/>
              <a:t>ρ</a:t>
            </a:r>
            <a:r>
              <a:rPr lang="en-US" altLang="zh-CN" sz="1800" dirty="0" smtClean="0"/>
              <a:t>f </a:t>
            </a:r>
            <a:r>
              <a:rPr lang="zh-CN" altLang="en-US" sz="1800" dirty="0" smtClean="0"/>
              <a:t>体积力，密度 </a:t>
            </a:r>
            <a:r>
              <a:rPr lang="en-US" altLang="zh-CN" sz="1800" dirty="0" smtClean="0"/>
              <a:t>· </a:t>
            </a:r>
            <a:r>
              <a:rPr lang="zh-CN" altLang="en-US" sz="1800" dirty="0" smtClean="0"/>
              <a:t>单位质量体积力，得到单位体积力（如重力、电磁力等）</a:t>
            </a:r>
            <a:endParaRPr lang="en-US" altLang="zh-CN" sz="1800" dirty="0" smtClean="0"/>
          </a:p>
        </p:txBody>
      </p:sp>
    </p:spTree>
    <p:extLst>
      <p:ext uri="{BB962C8B-B14F-4D97-AF65-F5344CB8AC3E}">
        <p14:creationId xmlns:p14="http://schemas.microsoft.com/office/powerpoint/2010/main" val="3948855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 smtClean="0"/>
              <a:t>Incompressible </a:t>
            </a:r>
            <a:r>
              <a:rPr lang="en-US" altLang="zh-CN" sz="4000" dirty="0" err="1"/>
              <a:t>Navier</a:t>
            </a:r>
            <a:r>
              <a:rPr lang="en-US" altLang="zh-CN" sz="4000" dirty="0"/>
              <a:t>-Stokes </a:t>
            </a:r>
            <a:r>
              <a:rPr lang="en-US" altLang="zh-CN" sz="4000" dirty="0" smtClean="0"/>
              <a:t>Equations</a:t>
            </a:r>
            <a:endParaRPr lang="zh-CN" altLang="en-US" sz="4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760" y="1272177"/>
            <a:ext cx="6888480" cy="1274988"/>
          </a:xfrm>
          <a:prstGeom prst="rect">
            <a:avLst/>
          </a:prstGeom>
        </p:spPr>
      </p:pic>
      <p:sp>
        <p:nvSpPr>
          <p:cNvPr id="5" name="内容占位符 2"/>
          <p:cNvSpPr txBox="1">
            <a:spLocks/>
          </p:cNvSpPr>
          <p:nvPr/>
        </p:nvSpPr>
        <p:spPr>
          <a:xfrm>
            <a:off x="670560" y="2547165"/>
            <a:ext cx="11338560" cy="2070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/>
              <a:t>Simulating Ocean </a:t>
            </a:r>
            <a:r>
              <a:rPr lang="en-US" altLang="zh-CN" sz="2000" dirty="0" smtClean="0"/>
              <a:t>Water</a:t>
            </a:r>
            <a:r>
              <a:rPr lang="zh-CN" altLang="en-US" sz="2000" dirty="0" smtClean="0"/>
              <a:t>论文假设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1. </a:t>
            </a:r>
            <a:r>
              <a:rPr lang="zh-CN" altLang="en-US" sz="2000" dirty="0" smtClean="0"/>
              <a:t>水是不可压流体 </a:t>
            </a:r>
            <a:r>
              <a:rPr lang="el-GR" altLang="zh-CN" sz="2000" dirty="0" smtClean="0"/>
              <a:t>ρ = </a:t>
            </a:r>
            <a:r>
              <a:rPr lang="en-US" altLang="zh-CN" sz="2000" dirty="0" smtClean="0"/>
              <a:t>constant</a:t>
            </a:r>
            <a:r>
              <a:rPr lang="zh-CN" altLang="en-US" sz="2000" dirty="0" smtClean="0"/>
              <a:t>，由质量守恒 </a:t>
            </a:r>
            <a:r>
              <a:rPr lang="el-GR" altLang="zh-CN" sz="2000" dirty="0" smtClean="0"/>
              <a:t>∂ρ/∂</a:t>
            </a:r>
            <a:r>
              <a:rPr lang="en-US" altLang="zh-CN" sz="2000" dirty="0" smtClean="0"/>
              <a:t>t + ∇ · (</a:t>
            </a:r>
            <a:r>
              <a:rPr lang="el-GR" altLang="zh-CN" sz="2000" dirty="0" smtClean="0"/>
              <a:t>ρ</a:t>
            </a:r>
            <a:r>
              <a:rPr lang="en-US" altLang="zh-CN" sz="2000" dirty="0" smtClean="0"/>
              <a:t>u) = 0 </a:t>
            </a:r>
            <a:r>
              <a:rPr lang="zh-CN" altLang="en-US" sz="2000" dirty="0" smtClean="0"/>
              <a:t>得到 速度场散度 </a:t>
            </a:r>
            <a:r>
              <a:rPr lang="en-US" altLang="zh-CN" sz="2000" dirty="0" smtClean="0"/>
              <a:t>∇ </a:t>
            </a:r>
            <a:r>
              <a:rPr lang="en-US" altLang="zh-CN" sz="2000" dirty="0"/>
              <a:t>· u = </a:t>
            </a:r>
            <a:r>
              <a:rPr lang="en-US" altLang="zh-CN" sz="2000" dirty="0" smtClean="0"/>
              <a:t>0</a:t>
            </a:r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2. </a:t>
            </a:r>
            <a:r>
              <a:rPr lang="zh-CN" altLang="en-US" sz="2000" dirty="0" smtClean="0"/>
              <a:t>忽略粘性项</a:t>
            </a:r>
            <a:r>
              <a:rPr lang="en-US" altLang="zh-CN" sz="2000" dirty="0" smtClean="0"/>
              <a:t> </a:t>
            </a:r>
            <a:r>
              <a:rPr lang="el-GR" altLang="zh-CN" sz="2000" dirty="0" smtClean="0"/>
              <a:t>∇⋅τ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，假定对大尺度海洋表面重力波，</a:t>
            </a:r>
            <a:r>
              <a:rPr lang="el-GR" altLang="zh-CN" sz="2000" dirty="0" smtClean="0"/>
              <a:t> ∇ · τ ≈ 0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3. </a:t>
            </a:r>
            <a:r>
              <a:rPr lang="zh-CN" altLang="en-US" sz="2000" dirty="0" smtClean="0"/>
              <a:t>假定水的密度 </a:t>
            </a:r>
            <a:r>
              <a:rPr lang="el-GR" altLang="zh-CN" sz="2000" dirty="0" smtClean="0"/>
              <a:t>ρ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为单位常数</a:t>
            </a:r>
            <a:endParaRPr lang="en-US" altLang="zh-CN" sz="2000" dirty="0" smtClean="0"/>
          </a:p>
          <a:p>
            <a:r>
              <a:rPr lang="zh-CN" altLang="en-US" sz="2000" dirty="0" smtClean="0"/>
              <a:t>得到了以下公式，即 </a:t>
            </a:r>
            <a:r>
              <a:rPr lang="zh-CN" altLang="en-US" sz="2000" b="1" dirty="0" smtClean="0"/>
              <a:t>不可压 </a:t>
            </a:r>
            <a:r>
              <a:rPr lang="en-US" altLang="zh-CN" sz="2000" b="1" dirty="0" smtClean="0"/>
              <a:t>N-S </a:t>
            </a:r>
            <a:r>
              <a:rPr lang="zh-CN" altLang="en-US" sz="2000" b="1" dirty="0" smtClean="0"/>
              <a:t>方程</a:t>
            </a:r>
            <a:r>
              <a:rPr lang="zh-CN" altLang="en-US" sz="2000" dirty="0" smtClean="0"/>
              <a:t>：</a:t>
            </a:r>
            <a:endParaRPr lang="en-US" altLang="zh-CN" sz="20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7211" y="4617720"/>
            <a:ext cx="4931960" cy="1303161"/>
          </a:xfrm>
          <a:prstGeom prst="rect">
            <a:avLst/>
          </a:prstGeom>
        </p:spPr>
      </p:pic>
      <p:sp>
        <p:nvSpPr>
          <p:cNvPr id="8" name="内容占位符 2"/>
          <p:cNvSpPr txBox="1">
            <a:spLocks/>
          </p:cNvSpPr>
          <p:nvPr/>
        </p:nvSpPr>
        <p:spPr>
          <a:xfrm>
            <a:off x="838200" y="5920881"/>
            <a:ext cx="11338560" cy="2070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 smtClean="0"/>
              <a:t>忽略粘性项会导致边界层粘性、小尺度湍流、真实泡沫、水花飞溅、碎浪等效果不好实现</a:t>
            </a:r>
            <a:endParaRPr lang="en-US" altLang="zh-CN" sz="2000" dirty="0" smtClean="0"/>
          </a:p>
          <a:p>
            <a:r>
              <a:rPr lang="zh-CN" altLang="en-US" sz="2000" dirty="0" smtClean="0"/>
              <a:t>但是适合模拟大尺度重力波、远洋表面波、频域统计海浪、</a:t>
            </a:r>
            <a:r>
              <a:rPr lang="en-US" altLang="zh-CN" sz="2000" dirty="0" smtClean="0"/>
              <a:t>FFT height field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372901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5999128"/>
            <a:ext cx="4038340" cy="104841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Bernoulli’s equation</a:t>
            </a:r>
            <a:endParaRPr lang="zh-CN" altLang="en-US" sz="36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131" y="1386840"/>
            <a:ext cx="4931960" cy="1303161"/>
          </a:xfrm>
          <a:prstGeom prst="rect">
            <a:avLst/>
          </a:prstGeom>
        </p:spPr>
      </p:pic>
      <p:sp>
        <p:nvSpPr>
          <p:cNvPr id="8" name="内容占位符 2"/>
          <p:cNvSpPr txBox="1">
            <a:spLocks/>
          </p:cNvSpPr>
          <p:nvPr/>
        </p:nvSpPr>
        <p:spPr>
          <a:xfrm>
            <a:off x="960120" y="2690001"/>
            <a:ext cx="10820400" cy="2070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 smtClean="0"/>
              <a:t>由 </a:t>
            </a:r>
            <a:r>
              <a:rPr lang="zh-CN" altLang="en-US" sz="2000" b="1" dirty="0" smtClean="0"/>
              <a:t>不可压 </a:t>
            </a:r>
            <a:r>
              <a:rPr lang="en-US" altLang="zh-CN" sz="2000" b="1" dirty="0" smtClean="0"/>
              <a:t>N-S </a:t>
            </a:r>
            <a:r>
              <a:rPr lang="zh-CN" altLang="en-US" sz="2000" b="1" dirty="0" smtClean="0"/>
              <a:t>方程</a:t>
            </a:r>
            <a:r>
              <a:rPr lang="zh-CN" altLang="en-US" sz="2000" dirty="0" smtClean="0"/>
              <a:t> 继续推导：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zh-CN" altLang="en-US" sz="2000" dirty="0" smtClean="0"/>
              <a:t>    </a:t>
            </a:r>
            <a:r>
              <a:rPr lang="en-US" altLang="zh-CN" sz="2000" dirty="0" smtClean="0"/>
              <a:t>1. </a:t>
            </a:r>
            <a:r>
              <a:rPr lang="zh-CN" altLang="en-US" sz="2000" dirty="0" smtClean="0"/>
              <a:t>体积力 </a:t>
            </a:r>
            <a:r>
              <a:rPr lang="en-US" altLang="zh-CN" sz="2000" dirty="0" smtClean="0"/>
              <a:t>F </a:t>
            </a:r>
            <a:r>
              <a:rPr lang="zh-CN" altLang="en-US" sz="2000" dirty="0" smtClean="0"/>
              <a:t>是保守力，存在势能</a:t>
            </a:r>
            <a:r>
              <a:rPr lang="zh-CN" altLang="en-US" sz="2000" dirty="0"/>
              <a:t>函数</a:t>
            </a:r>
            <a:r>
              <a:rPr lang="en-US" altLang="zh-CN" sz="2000" dirty="0"/>
              <a:t> U(</a:t>
            </a:r>
            <a:r>
              <a:rPr lang="en-US" altLang="zh-CN" sz="2000" dirty="0" err="1"/>
              <a:t>x,t</a:t>
            </a:r>
            <a:r>
              <a:rPr lang="en-US" altLang="zh-CN" sz="2000" dirty="0" smtClean="0"/>
              <a:t>) </a:t>
            </a:r>
            <a:r>
              <a:rPr lang="zh-CN" altLang="en-US" sz="2000" dirty="0" smtClean="0"/>
              <a:t>使得 </a:t>
            </a:r>
            <a:r>
              <a:rPr lang="en-US" altLang="zh-CN" sz="2000" dirty="0" smtClean="0"/>
              <a:t>F</a:t>
            </a:r>
            <a:r>
              <a:rPr lang="en-US" altLang="zh-CN" sz="2000" dirty="0"/>
              <a:t>=−∇</a:t>
            </a:r>
            <a:r>
              <a:rPr lang="en-US" altLang="zh-CN" sz="2000" dirty="0" smtClean="0"/>
              <a:t>U</a:t>
            </a:r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2. </a:t>
            </a:r>
            <a:r>
              <a:rPr lang="zh-CN" altLang="en-US" sz="2000" dirty="0" smtClean="0"/>
              <a:t>引入势流假设，即</a:t>
            </a:r>
            <a:r>
              <a:rPr lang="zh-CN" altLang="en-US" sz="2000" dirty="0"/>
              <a:t>涡量 </a:t>
            </a:r>
            <a:r>
              <a:rPr lang="el-GR" altLang="zh-CN" sz="2000" dirty="0" smtClean="0"/>
              <a:t>ω</a:t>
            </a:r>
            <a:r>
              <a:rPr lang="en-US" altLang="zh-CN" sz="2000" dirty="0" smtClean="0"/>
              <a:t> </a:t>
            </a:r>
            <a:r>
              <a:rPr lang="el-GR" altLang="zh-CN" sz="2000" dirty="0" smtClean="0"/>
              <a:t>=</a:t>
            </a:r>
            <a:r>
              <a:rPr lang="en-US" altLang="zh-CN" sz="2000" dirty="0" smtClean="0"/>
              <a:t> </a:t>
            </a:r>
            <a:r>
              <a:rPr lang="el-GR" altLang="zh-CN" sz="2000" dirty="0" smtClean="0"/>
              <a:t>∇</a:t>
            </a:r>
            <a:r>
              <a:rPr lang="el-GR" altLang="zh-CN" sz="2000" dirty="0"/>
              <a:t>×</a:t>
            </a:r>
            <a:r>
              <a:rPr lang="en-US" altLang="zh-CN" sz="2000" dirty="0" smtClean="0"/>
              <a:t>u = 0</a:t>
            </a:r>
            <a:r>
              <a:rPr lang="zh-CN" altLang="en-US" sz="2000" dirty="0"/>
              <a:t>；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则</a:t>
            </a:r>
            <a:r>
              <a:rPr lang="zh-CN" altLang="en-US" sz="2000" dirty="0"/>
              <a:t>存在标量速度势 </a:t>
            </a:r>
            <a:r>
              <a:rPr lang="el-GR" altLang="zh-CN" sz="2000" dirty="0"/>
              <a:t>ϕ(</a:t>
            </a:r>
            <a:r>
              <a:rPr lang="en-US" altLang="zh-CN" sz="2000" dirty="0" err="1"/>
              <a:t>x,t</a:t>
            </a:r>
            <a:r>
              <a:rPr lang="en-US" altLang="zh-CN" sz="2000" dirty="0" smtClean="0"/>
              <a:t>) </a:t>
            </a:r>
            <a:r>
              <a:rPr lang="zh-CN" altLang="en-US" sz="2000" dirty="0" smtClean="0"/>
              <a:t>，使得 </a:t>
            </a:r>
            <a:r>
              <a:rPr lang="en-US" altLang="zh-CN" sz="2000" dirty="0" smtClean="0"/>
              <a:t>u</a:t>
            </a:r>
            <a:r>
              <a:rPr lang="en-US" altLang="zh-CN" sz="2000" dirty="0"/>
              <a:t>=∇</a:t>
            </a:r>
            <a:r>
              <a:rPr lang="el-GR" altLang="zh-CN" sz="2000" dirty="0" smtClean="0"/>
              <a:t>ϕ</a:t>
            </a:r>
            <a:endParaRPr lang="en-US" altLang="zh-CN" sz="2000" dirty="0" smtClean="0"/>
          </a:p>
          <a:p>
            <a:r>
              <a:rPr lang="zh-CN" altLang="en-US" sz="2000" dirty="0" smtClean="0"/>
              <a:t>对 </a:t>
            </a:r>
            <a:r>
              <a:rPr lang="en-US" altLang="zh-CN" sz="2000" dirty="0" smtClean="0"/>
              <a:t>u</a:t>
            </a:r>
            <a:r>
              <a:rPr lang="en-US" altLang="zh-CN" sz="2000" dirty="0"/>
              <a:t>⋅∇u=∇(∣u∣^2</a:t>
            </a:r>
            <a:r>
              <a:rPr lang="en-US" altLang="zh-CN" sz="2000" dirty="0" smtClean="0"/>
              <a:t>​ / 2)</a:t>
            </a:r>
            <a:r>
              <a:rPr lang="en-US" altLang="zh-CN" sz="2000" dirty="0"/>
              <a:t>−u×(∇×u</a:t>
            </a:r>
            <a:r>
              <a:rPr lang="en-US" altLang="zh-CN" sz="2000" dirty="0" smtClean="0"/>
              <a:t>)</a:t>
            </a:r>
            <a:r>
              <a:rPr lang="zh-CN" altLang="en-US" sz="2000" dirty="0" smtClean="0"/>
              <a:t>，基于以上两个假设化简</a:t>
            </a:r>
            <a:r>
              <a:rPr lang="zh-CN" altLang="en-US" sz="2000" dirty="0"/>
              <a:t>得到 </a:t>
            </a:r>
            <a:r>
              <a:rPr lang="en-US" altLang="zh-CN" sz="2000" dirty="0"/>
              <a:t>u⋅∇u=∇(∣∇</a:t>
            </a:r>
            <a:r>
              <a:rPr lang="el-GR" altLang="zh-CN" sz="2000" dirty="0"/>
              <a:t>ϕ</a:t>
            </a:r>
            <a:r>
              <a:rPr lang="el-GR" altLang="zh-CN" sz="2000" dirty="0" smtClean="0"/>
              <a:t>∣</a:t>
            </a:r>
            <a:r>
              <a:rPr lang="en-US" altLang="zh-CN" sz="2000" dirty="0" smtClean="0"/>
              <a:t>^</a:t>
            </a:r>
            <a:r>
              <a:rPr lang="el-GR" altLang="zh-CN" sz="2000" dirty="0" smtClean="0"/>
              <a:t>2</a:t>
            </a:r>
            <a:r>
              <a:rPr lang="en-US" altLang="zh-CN" sz="2000" dirty="0" smtClean="0"/>
              <a:t> / 2</a:t>
            </a:r>
            <a:r>
              <a:rPr lang="el-GR" altLang="zh-CN" sz="2000" dirty="0" smtClean="0"/>
              <a:t>​)</a:t>
            </a:r>
          </a:p>
        </p:txBody>
      </p:sp>
      <p:sp>
        <p:nvSpPr>
          <p:cNvPr id="6" name="矩形 5"/>
          <p:cNvSpPr/>
          <p:nvPr/>
        </p:nvSpPr>
        <p:spPr>
          <a:xfrm>
            <a:off x="1396012" y="4560500"/>
            <a:ext cx="42724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/>
              <a:t>将上式代入 不可压 </a:t>
            </a:r>
            <a:r>
              <a:rPr lang="en-US" altLang="zh-CN" sz="2000" dirty="0"/>
              <a:t>N-S </a:t>
            </a:r>
            <a:r>
              <a:rPr lang="zh-CN" altLang="en-US" sz="2000" dirty="0"/>
              <a:t>方程 可得</a:t>
            </a:r>
            <a:endParaRPr lang="en-US" altLang="zh-CN" sz="2000" dirty="0"/>
          </a:p>
        </p:txBody>
      </p:sp>
      <p:sp>
        <p:nvSpPr>
          <p:cNvPr id="9" name="矩形 8"/>
          <p:cNvSpPr/>
          <p:nvPr/>
        </p:nvSpPr>
        <p:spPr>
          <a:xfrm>
            <a:off x="1396012" y="5452900"/>
            <a:ext cx="581596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/>
              <a:t>假设函数足够光滑，可交换时间与空间导数的顺序</a:t>
            </a:r>
            <a:endParaRPr lang="en-US" altLang="zh-CN" sz="24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0" y="5113523"/>
            <a:ext cx="2932445" cy="110497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2470" y="4214328"/>
            <a:ext cx="4670245" cy="109245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956560" y="6284883"/>
            <a:ext cx="28185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代入后</a:t>
            </a:r>
            <a:r>
              <a:rPr lang="zh-CN" altLang="en-US" sz="2000" b="0" i="0" dirty="0" smtClean="0">
                <a:solidFill>
                  <a:srgbClr val="0F1115"/>
                </a:solidFill>
                <a:effectLst/>
                <a:latin typeface="quote-cjk-patch"/>
              </a:rPr>
              <a:t>合并梯度项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07238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151" y="1430920"/>
            <a:ext cx="4755050" cy="123448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Bernoulli’s equation</a:t>
            </a:r>
            <a:endParaRPr lang="zh-CN" altLang="en-US" sz="3600" dirty="0"/>
          </a:p>
        </p:txBody>
      </p:sp>
      <p:sp>
        <p:nvSpPr>
          <p:cNvPr id="11" name="矩形 10"/>
          <p:cNvSpPr/>
          <p:nvPr/>
        </p:nvSpPr>
        <p:spPr>
          <a:xfrm>
            <a:off x="2146200" y="2556428"/>
            <a:ext cx="9207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该式子表明，</a:t>
            </a:r>
            <a:r>
              <a:rPr lang="zh-CN" altLang="en-US" sz="2000" dirty="0">
                <a:solidFill>
                  <a:srgbClr val="0F1115"/>
                </a:solidFill>
                <a:latin typeface="quote-cjk-patch"/>
              </a:rPr>
              <a:t>括号内的量在空间上处处相等，它可能只依赖于时间 </a:t>
            </a:r>
            <a:r>
              <a:rPr lang="en-US" altLang="zh-CN" sz="2000" dirty="0">
                <a:solidFill>
                  <a:srgbClr val="0F1115"/>
                </a:solidFill>
                <a:latin typeface="quote-cjk-patch"/>
              </a:rPr>
              <a:t>t</a:t>
            </a:r>
            <a:endParaRPr lang="zh-CN" altLang="en-US" sz="2000" dirty="0">
              <a:solidFill>
                <a:srgbClr val="0F1115"/>
              </a:solidFill>
              <a:latin typeface="quote-cjk-patch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151" y="3149745"/>
            <a:ext cx="4636131" cy="116291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492200" y="4505862"/>
            <a:ext cx="9207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/>
              <a:t>势函数 </a:t>
            </a:r>
            <a:r>
              <a:rPr lang="en-US" altLang="zh-CN" sz="2000" dirty="0" smtClean="0"/>
              <a:t>ϕ</a:t>
            </a:r>
            <a:r>
              <a:rPr lang="zh-CN" altLang="en-US" sz="2000" dirty="0"/>
              <a:t> 可以加上一个只依赖于时间的任意函数而不改变速度场 </a:t>
            </a:r>
            <a:r>
              <a:rPr lang="en-US" altLang="zh-CN" sz="2000" dirty="0"/>
              <a:t>u=∇</a:t>
            </a:r>
            <a:r>
              <a:rPr lang="en-US" altLang="zh-CN" sz="2000" dirty="0" smtClean="0"/>
              <a:t>ϕ</a:t>
            </a:r>
            <a:r>
              <a:rPr lang="zh-CN" altLang="en-US" sz="2000" dirty="0" smtClean="0"/>
              <a:t>。</a:t>
            </a:r>
            <a:r>
              <a:rPr lang="zh-CN" altLang="en-US" sz="2000" dirty="0"/>
              <a:t>选择适当的 </a:t>
            </a:r>
            <a:r>
              <a:rPr lang="en-US" altLang="zh-CN" sz="2000" dirty="0" smtClean="0"/>
              <a:t>ϕ</a:t>
            </a:r>
            <a:r>
              <a:rPr lang="zh-CN" altLang="en-US" sz="2000" dirty="0"/>
              <a:t> 可以吸收 </a:t>
            </a:r>
            <a:r>
              <a:rPr lang="en-US" altLang="zh-CN" sz="2000" dirty="0" smtClean="0"/>
              <a:t>C(t)</a:t>
            </a:r>
            <a:r>
              <a:rPr lang="zh-CN" altLang="en-US" sz="2000" dirty="0" smtClean="0"/>
              <a:t>，</a:t>
            </a:r>
            <a:r>
              <a:rPr lang="zh-CN" altLang="en-US" sz="2000" dirty="0"/>
              <a:t>使其为零。最终得到经典的</a:t>
            </a:r>
            <a:r>
              <a:rPr lang="zh-CN" altLang="en-US" sz="2000" b="1" dirty="0" smtClean="0"/>
              <a:t>伯努利方程：</a:t>
            </a:r>
            <a:endParaRPr lang="zh-CN" altLang="en-US" sz="2400" dirty="0">
              <a:solidFill>
                <a:srgbClr val="0F1115"/>
              </a:solidFill>
              <a:latin typeface="quote-cjk-patch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2087" y="5206209"/>
            <a:ext cx="4177177" cy="1131005"/>
          </a:xfrm>
          <a:prstGeom prst="rect">
            <a:avLst/>
          </a:prstGeom>
        </p:spPr>
      </p:pic>
      <p:sp>
        <p:nvSpPr>
          <p:cNvPr id="14" name="圆角矩形 13"/>
          <p:cNvSpPr/>
          <p:nvPr/>
        </p:nvSpPr>
        <p:spPr>
          <a:xfrm>
            <a:off x="3627120" y="6267461"/>
            <a:ext cx="5334000" cy="46986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3627121" y="6337214"/>
            <a:ext cx="53339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/>
              <a:t>Bernoulli </a:t>
            </a:r>
            <a:r>
              <a:rPr lang="zh-CN" altLang="en-US" sz="2000" dirty="0" smtClean="0"/>
              <a:t>方程描述运动能量、压力、势能关系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77040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17"/>
          <p:cNvSpPr/>
          <p:nvPr/>
        </p:nvSpPr>
        <p:spPr>
          <a:xfrm>
            <a:off x="1219200" y="6015293"/>
            <a:ext cx="10134600" cy="46986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 smtClean="0"/>
              <a:t>Laplace </a:t>
            </a:r>
            <a:r>
              <a:rPr lang="en-US" altLang="zh-CN" sz="4000" dirty="0"/>
              <a:t>equation</a:t>
            </a:r>
            <a:endParaRPr lang="zh-CN" altLang="en-US" sz="3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655" y="445283"/>
            <a:ext cx="4177177" cy="113100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2420520" y="1661482"/>
            <a:ext cx="9207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再由不可压缩条件 </a:t>
            </a:r>
            <a:r>
              <a:rPr lang="en-US" altLang="zh-CN" dirty="0"/>
              <a:t>∇⋅</a:t>
            </a:r>
            <a:r>
              <a:rPr lang="en-US" altLang="zh-CN" b="1" dirty="0" smtClean="0"/>
              <a:t>u</a:t>
            </a:r>
            <a:r>
              <a:rPr lang="en-US" altLang="zh-CN" dirty="0" smtClean="0"/>
              <a:t>=0 </a:t>
            </a:r>
            <a:r>
              <a:rPr lang="zh-CN" altLang="en-US" dirty="0" smtClean="0"/>
              <a:t>和速度势定义 </a:t>
            </a:r>
            <a:r>
              <a:rPr lang="en-US" altLang="zh-CN" b="1" dirty="0"/>
              <a:t>u</a:t>
            </a:r>
            <a:r>
              <a:rPr lang="en-US" altLang="zh-CN" dirty="0"/>
              <a:t>=∇</a:t>
            </a:r>
            <a:r>
              <a:rPr lang="el-GR" altLang="zh-CN" i="1" dirty="0" smtClean="0"/>
              <a:t>ϕ</a:t>
            </a:r>
            <a:r>
              <a:rPr lang="en-US" altLang="zh-CN" i="1" dirty="0" smtClean="0"/>
              <a:t> </a:t>
            </a:r>
            <a:r>
              <a:rPr lang="zh-CN" altLang="en-US" dirty="0"/>
              <a:t>可</a:t>
            </a:r>
            <a:r>
              <a:rPr lang="zh-CN" altLang="en-US" dirty="0" smtClean="0"/>
              <a:t>得 </a:t>
            </a:r>
            <a:r>
              <a:rPr lang="el-GR" altLang="zh-CN" dirty="0"/>
              <a:t>∇⋅(∇</a:t>
            </a:r>
            <a:r>
              <a:rPr lang="el-GR" altLang="zh-CN" i="1" dirty="0"/>
              <a:t>ϕ</a:t>
            </a:r>
            <a:r>
              <a:rPr lang="el-GR" altLang="zh-CN" dirty="0"/>
              <a:t>)=0</a:t>
            </a:r>
            <a:endParaRPr lang="zh-CN" altLang="en-US" sz="2000" dirty="0">
              <a:solidFill>
                <a:srgbClr val="0F1115"/>
              </a:solidFill>
              <a:latin typeface="quote-cjk-patch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9337" y="2022006"/>
            <a:ext cx="3157275" cy="12571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6215" y="3217666"/>
            <a:ext cx="6305276" cy="1082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2629" y="4170636"/>
            <a:ext cx="2711983" cy="953221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3380625" y="4447191"/>
            <a:ext cx="3420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由</a:t>
            </a:r>
            <a:endParaRPr lang="zh-CN" altLang="en-US" sz="2000" dirty="0">
              <a:solidFill>
                <a:srgbClr val="0F1115"/>
              </a:solidFill>
              <a:latin typeface="quote-cjk-patch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250780" y="4447191"/>
            <a:ext cx="3609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得</a:t>
            </a:r>
            <a:r>
              <a:rPr lang="zh-CN" altLang="en-US" sz="2000" b="1" dirty="0" smtClean="0">
                <a:solidFill>
                  <a:srgbClr val="0F1115"/>
                </a:solidFill>
                <a:latin typeface="quote-cjk-patch"/>
              </a:rPr>
              <a:t>拉普拉斯方程</a:t>
            </a:r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：</a:t>
            </a:r>
            <a:endParaRPr lang="zh-CN" altLang="en-US" sz="2000" dirty="0">
              <a:solidFill>
                <a:srgbClr val="0F1115"/>
              </a:solidFill>
              <a:latin typeface="quote-cjk-patch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5437" y="5165096"/>
            <a:ext cx="3466832" cy="862923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1219201" y="6085046"/>
            <a:ext cx="101345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/>
              <a:t>它表示水流无源无汇，不可压缩；和上面的</a:t>
            </a:r>
            <a:r>
              <a:rPr lang="en-US" altLang="zh-CN" sz="2000" dirty="0"/>
              <a:t>Bernoulli </a:t>
            </a:r>
            <a:r>
              <a:rPr lang="zh-CN" altLang="en-US" sz="2000" dirty="0" smtClean="0"/>
              <a:t>方程共同组成了描述海洋表面的基础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02785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圆角矩形 20"/>
          <p:cNvSpPr/>
          <p:nvPr/>
        </p:nvSpPr>
        <p:spPr>
          <a:xfrm>
            <a:off x="697810" y="2717398"/>
            <a:ext cx="9028540" cy="115872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697810" y="1469048"/>
            <a:ext cx="8986050" cy="115872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697810" y="6254868"/>
            <a:ext cx="10117097" cy="4698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 smtClean="0"/>
              <a:t>Linearization</a:t>
            </a:r>
            <a:endParaRPr lang="zh-CN" altLang="en-US" sz="3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433" y="534048"/>
            <a:ext cx="3737836" cy="958339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838200" y="1492387"/>
            <a:ext cx="874776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假设流体</a:t>
            </a:r>
            <a:r>
              <a:rPr lang="zh-CN" altLang="en-US" sz="2000" dirty="0" smtClean="0"/>
              <a:t>速度较小，波幅较小，水面坡度较小，</a:t>
            </a:r>
            <a:r>
              <a:rPr lang="el-GR" altLang="zh-CN" sz="2000" dirty="0" smtClean="0"/>
              <a:t>1/2(∇φ)²</a:t>
            </a:r>
            <a:r>
              <a:rPr lang="zh-CN" altLang="en-US" sz="2000" dirty="0" smtClean="0"/>
              <a:t>作为超小量可以忽略</a:t>
            </a:r>
            <a:endParaRPr lang="en-US" altLang="zh-CN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劣势：不再真实模拟浪峰变尖、浅滩波浪破碎、强涡旋、湍流、水花飞溅</a:t>
            </a:r>
            <a:endParaRPr lang="en-US" altLang="zh-CN" sz="2000" dirty="0" smtClean="0">
              <a:solidFill>
                <a:srgbClr val="0F1115"/>
              </a:solidFill>
              <a:latin typeface="quote-cjk-patch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适合模拟：开放海面、深水重力波、风浪背景波（且风不是特别剧烈）</a:t>
            </a:r>
            <a:endParaRPr lang="zh-CN" altLang="en-US" sz="2000" dirty="0">
              <a:solidFill>
                <a:srgbClr val="0F1115"/>
              </a:solidFill>
              <a:latin typeface="quote-cjk-patch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38201" y="6324621"/>
            <a:ext cx="10515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/>
              <a:t>以上两个公式共同组成了</a:t>
            </a:r>
            <a:r>
              <a:rPr lang="zh-CN" altLang="en-US" sz="2000" b="1" dirty="0" smtClean="0"/>
              <a:t>水面振荡的根源</a:t>
            </a:r>
            <a:r>
              <a:rPr lang="zh-CN" altLang="en-US" sz="2000" dirty="0" smtClean="0"/>
              <a:t>：</a:t>
            </a:r>
            <a:r>
              <a:rPr lang="en-US" altLang="zh-CN" sz="2000" dirty="0" smtClean="0"/>
              <a:t>h → </a:t>
            </a:r>
            <a:r>
              <a:rPr lang="zh-CN" altLang="en-US" sz="2000" dirty="0" smtClean="0"/>
              <a:t>改变 </a:t>
            </a:r>
            <a:r>
              <a:rPr lang="el-GR" altLang="zh-CN" sz="2000" dirty="0" smtClean="0"/>
              <a:t>φ</a:t>
            </a:r>
            <a:r>
              <a:rPr lang="en-US" altLang="zh-CN" sz="2000" dirty="0" smtClean="0"/>
              <a:t> </a:t>
            </a:r>
            <a:r>
              <a:rPr lang="zh-CN" altLang="en-US" sz="2000" dirty="0"/>
              <a:t> </a:t>
            </a:r>
            <a:r>
              <a:rPr lang="en-US" altLang="zh-CN" sz="2000" dirty="0" smtClean="0"/>
              <a:t>- </a:t>
            </a:r>
            <a:r>
              <a:rPr lang="el-GR" altLang="zh-CN" sz="2000" dirty="0" smtClean="0"/>
              <a:t>φ → </a:t>
            </a:r>
            <a:r>
              <a:rPr lang="zh-CN" altLang="en-US" sz="2000" dirty="0" smtClean="0"/>
              <a:t>改变 </a:t>
            </a:r>
            <a:r>
              <a:rPr lang="en-US" altLang="zh-CN" sz="2000" dirty="0" smtClean="0"/>
              <a:t>h - … </a:t>
            </a:r>
            <a:r>
              <a:rPr lang="zh-CN" altLang="en-US" sz="2000" dirty="0" smtClean="0"/>
              <a:t>（形成波动）</a:t>
            </a:r>
            <a:endParaRPr lang="zh-CN" altLang="en-US" sz="2000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8075" y="581756"/>
            <a:ext cx="3466832" cy="86292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3860" y="1583061"/>
            <a:ext cx="2129283" cy="995955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936100" y="2725345"/>
            <a:ext cx="874776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把水面看成动态高度场 </a:t>
            </a:r>
            <a:r>
              <a:rPr lang="en-US" altLang="zh-CN" sz="2000" dirty="0" smtClean="0"/>
              <a:t>h(x⊥, t)</a:t>
            </a:r>
            <a:r>
              <a:rPr lang="zh-CN" altLang="en-US" sz="2000" dirty="0" smtClean="0"/>
              <a:t>，表示在水平位置 </a:t>
            </a:r>
            <a:r>
              <a:rPr lang="en-US" altLang="zh-CN" sz="2000" dirty="0" smtClean="0"/>
              <a:t>x⊥</a:t>
            </a:r>
            <a:r>
              <a:rPr lang="zh-CN" altLang="en-US" sz="2000" dirty="0" smtClean="0"/>
              <a:t>（水平平面上的二维坐标</a:t>
            </a:r>
            <a:r>
              <a:rPr lang="en-US" altLang="zh-CN" sz="2000" dirty="0" smtClean="0"/>
              <a:t>(x, z) )</a:t>
            </a:r>
            <a:r>
              <a:rPr lang="zh-CN" altLang="en-US" sz="2000" dirty="0" smtClean="0"/>
              <a:t>，时间 </a:t>
            </a:r>
            <a:r>
              <a:rPr lang="en-US" altLang="zh-CN" sz="2000" dirty="0" smtClean="0"/>
              <a:t>t</a:t>
            </a:r>
            <a:r>
              <a:rPr lang="zh-CN" altLang="en-US" sz="2000" dirty="0" smtClean="0"/>
              <a:t>时，水面相对平均海平面的高度 </a:t>
            </a:r>
            <a:r>
              <a:rPr lang="en-US" altLang="zh-CN" sz="2000" dirty="0" smtClean="0"/>
              <a:t>y</a:t>
            </a:r>
            <a:r>
              <a:rPr lang="zh-CN" altLang="en-US" sz="2000" dirty="0" smtClean="0"/>
              <a:t>（</a:t>
            </a:r>
            <a:r>
              <a:rPr lang="en-US" altLang="zh-CN" sz="2000" dirty="0"/>
              <a:t>H</a:t>
            </a:r>
            <a:r>
              <a:rPr lang="en-US" altLang="zh-CN" sz="2000" dirty="0" smtClean="0"/>
              <a:t>eight </a:t>
            </a:r>
            <a:r>
              <a:rPr lang="en-US" altLang="zh-CN" sz="2000" dirty="0"/>
              <a:t>F</a:t>
            </a:r>
            <a:r>
              <a:rPr lang="en-US" altLang="zh-CN" sz="2000" dirty="0" smtClean="0"/>
              <a:t>ield, </a:t>
            </a:r>
            <a:r>
              <a:rPr lang="zh-CN" altLang="en-US" sz="2000" dirty="0" smtClean="0"/>
              <a:t>高度场）</a:t>
            </a:r>
            <a:endParaRPr lang="en-US" altLang="zh-CN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定义平均水面高度为 </a:t>
            </a:r>
            <a:r>
              <a:rPr lang="en-US" altLang="zh-CN" sz="2000" dirty="0" smtClean="0"/>
              <a:t>0</a:t>
            </a:r>
            <a:r>
              <a:rPr lang="zh-CN" altLang="en-US" sz="2000" dirty="0" smtClean="0"/>
              <a:t>，则重力势能项 </a:t>
            </a:r>
            <a:r>
              <a:rPr lang="en-US" altLang="zh-CN" sz="2000" dirty="0" smtClean="0"/>
              <a:t>U = g h </a:t>
            </a:r>
            <a:endParaRPr lang="zh-CN" altLang="en-US" sz="2000" dirty="0">
              <a:solidFill>
                <a:srgbClr val="0F1115"/>
              </a:solidFill>
              <a:latin typeface="quote-cjk-patch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6349" y="2908624"/>
            <a:ext cx="2164201" cy="832384"/>
          </a:xfrm>
          <a:prstGeom prst="rect">
            <a:avLst/>
          </a:prstGeom>
        </p:spPr>
      </p:pic>
      <p:sp>
        <p:nvSpPr>
          <p:cNvPr id="22" name="圆角矩形 21"/>
          <p:cNvSpPr/>
          <p:nvPr/>
        </p:nvSpPr>
        <p:spPr>
          <a:xfrm>
            <a:off x="697810" y="4014508"/>
            <a:ext cx="8354750" cy="11465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936100" y="4022454"/>
            <a:ext cx="874776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/>
              <a:t>论文指出，限制到水面后，水面压力 </a:t>
            </a:r>
            <a:r>
              <a:rPr lang="en-US" altLang="zh-CN" sz="2000" dirty="0" smtClean="0"/>
              <a:t>p </a:t>
            </a:r>
            <a:r>
              <a:rPr lang="zh-CN" altLang="en-US" sz="2000" dirty="0" smtClean="0"/>
              <a:t>基本是常数，可以把它取为 </a:t>
            </a:r>
            <a:r>
              <a:rPr lang="en-US" altLang="zh-CN" sz="2000" dirty="0" smtClean="0"/>
              <a:t>0</a:t>
            </a:r>
          </a:p>
          <a:p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因此 </a:t>
            </a:r>
            <a:r>
              <a:rPr lang="el-GR" altLang="zh-CN" sz="2000" dirty="0" smtClean="0"/>
              <a:t>∂φ/∂</a:t>
            </a:r>
            <a:r>
              <a:rPr lang="en-US" altLang="zh-CN" sz="2000" dirty="0" smtClean="0"/>
              <a:t>t = -p – U </a:t>
            </a:r>
            <a:r>
              <a:rPr lang="zh-CN" altLang="en-US" sz="2000" dirty="0" smtClean="0"/>
              <a:t>代入 </a:t>
            </a:r>
            <a:r>
              <a:rPr lang="en-US" altLang="zh-CN" sz="2000" dirty="0" smtClean="0"/>
              <a:t>p = 0 , U = </a:t>
            </a:r>
            <a:r>
              <a:rPr lang="en-US" altLang="zh-CN" sz="2000" dirty="0" err="1" smtClean="0"/>
              <a:t>gh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得到右边的线性化伯努利方程</a:t>
            </a:r>
            <a:endParaRPr lang="en-US" altLang="zh-CN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物理意义：</a:t>
            </a:r>
            <a:r>
              <a:rPr lang="zh-CN" altLang="en-US" sz="2000" dirty="0" smtClean="0"/>
              <a:t>水面被抬高</a:t>
            </a:r>
            <a:r>
              <a:rPr lang="en-US" altLang="zh-CN" sz="2000" dirty="0" smtClean="0"/>
              <a:t>-</a:t>
            </a:r>
            <a:r>
              <a:rPr lang="zh-CN" altLang="en-US" sz="2000" dirty="0" smtClean="0"/>
              <a:t>重力势能增加</a:t>
            </a:r>
            <a:r>
              <a:rPr lang="en-US" altLang="zh-CN" sz="2000" dirty="0" smtClean="0"/>
              <a:t>-</a:t>
            </a:r>
            <a:r>
              <a:rPr lang="zh-CN" altLang="en-US" sz="2000" dirty="0" smtClean="0"/>
              <a:t>流体速度势降低（符合常识）</a:t>
            </a:r>
            <a:endParaRPr lang="zh-CN" altLang="en-US" sz="2000" dirty="0">
              <a:solidFill>
                <a:srgbClr val="0F1115"/>
              </a:solidFill>
              <a:latin typeface="quote-cjk-patch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8611" y="4014507"/>
            <a:ext cx="3259676" cy="831549"/>
          </a:xfrm>
          <a:prstGeom prst="rect">
            <a:avLst/>
          </a:prstGeom>
        </p:spPr>
      </p:pic>
      <p:sp>
        <p:nvSpPr>
          <p:cNvPr id="24" name="圆角矩形 23"/>
          <p:cNvSpPr/>
          <p:nvPr/>
        </p:nvSpPr>
        <p:spPr>
          <a:xfrm>
            <a:off x="697810" y="5334720"/>
            <a:ext cx="8354750" cy="7158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936100" y="5342666"/>
            <a:ext cx="87477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/>
              <a:t>又有 水面上升</a:t>
            </a:r>
            <a:r>
              <a:rPr lang="en-US" altLang="zh-CN" sz="2000" dirty="0" smtClean="0"/>
              <a:t>/</a:t>
            </a:r>
            <a:r>
              <a:rPr lang="zh-CN" altLang="en-US" sz="2000" dirty="0" smtClean="0"/>
              <a:t>下降的速度 </a:t>
            </a:r>
            <a:r>
              <a:rPr lang="en-US" altLang="zh-CN" sz="2000" dirty="0" smtClean="0"/>
              <a:t>= </a:t>
            </a:r>
            <a:r>
              <a:rPr lang="zh-CN" altLang="en-US" sz="2000" dirty="0" smtClean="0"/>
              <a:t>流体在水面处的垂直速度</a:t>
            </a:r>
            <a:endParaRPr lang="en-US" altLang="zh-CN" sz="2000" dirty="0" smtClean="0"/>
          </a:p>
          <a:p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因此水面高度随时间的变化率 </a:t>
            </a:r>
            <a:r>
              <a:rPr lang="en-US" altLang="zh-CN" sz="2000" dirty="0" smtClean="0"/>
              <a:t>∂h(</a:t>
            </a:r>
            <a:r>
              <a:rPr lang="en-US" altLang="zh-CN" sz="2000" dirty="0" err="1" smtClean="0"/>
              <a:t>x⊥,t</a:t>
            </a:r>
            <a:r>
              <a:rPr lang="en-US" altLang="zh-CN" sz="2000" dirty="0" smtClean="0"/>
              <a:t>)/∂t =</a:t>
            </a:r>
            <a:r>
              <a:rPr lang="zh-CN" altLang="en-US" sz="2000" dirty="0" smtClean="0"/>
              <a:t>速度势 </a:t>
            </a:r>
            <a:r>
              <a:rPr lang="en-US" altLang="zh-CN" sz="2000" dirty="0" smtClean="0"/>
              <a:t>φ </a:t>
            </a:r>
            <a:r>
              <a:rPr lang="zh-CN" altLang="en-US" sz="2000" dirty="0"/>
              <a:t>得到</a:t>
            </a:r>
            <a:r>
              <a:rPr lang="zh-CN" altLang="en-US" sz="2000" dirty="0" smtClean="0"/>
              <a:t>的垂直速度</a:t>
            </a:r>
            <a:endParaRPr lang="zh-CN" altLang="en-US" sz="2000" dirty="0">
              <a:solidFill>
                <a:srgbClr val="0F1115"/>
              </a:solidFill>
              <a:latin typeface="quote-cjk-patch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0" y="5465627"/>
            <a:ext cx="3217553" cy="78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468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 smtClean="0"/>
              <a:t>Dispersion</a:t>
            </a:r>
            <a:r>
              <a:rPr lang="zh-CN" altLang="en-US" sz="4000" dirty="0" smtClean="0"/>
              <a:t>（色散）</a:t>
            </a:r>
            <a:endParaRPr lang="zh-CN" altLang="en-US" sz="3600" dirty="0"/>
          </a:p>
        </p:txBody>
      </p:sp>
      <p:sp>
        <p:nvSpPr>
          <p:cNvPr id="9" name="矩形 8"/>
          <p:cNvSpPr/>
          <p:nvPr/>
        </p:nvSpPr>
        <p:spPr>
          <a:xfrm>
            <a:off x="1219200" y="1564869"/>
            <a:ext cx="9207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rgbClr val="0F1115"/>
                </a:solidFill>
                <a:latin typeface="quote-cjk-patch"/>
              </a:rPr>
              <a:t>色散的本质</a:t>
            </a:r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：</a:t>
            </a:r>
            <a:r>
              <a:rPr lang="zh-CN" altLang="en-US" sz="2000" dirty="0" smtClean="0"/>
              <a:t>不同大小的波，有不同的运动频率和传播速度</a:t>
            </a:r>
            <a:endParaRPr lang="en-US" altLang="zh-CN" sz="2000" dirty="0" smtClean="0"/>
          </a:p>
          <a:p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假设水面上有一个简单正弦波：</a:t>
            </a:r>
            <a:endParaRPr lang="zh-CN" altLang="en-US" sz="2000" dirty="0">
              <a:solidFill>
                <a:srgbClr val="0F1115"/>
              </a:solidFill>
              <a:latin typeface="quote-cjk-patch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489" y="2224315"/>
            <a:ext cx="4802801" cy="758338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1219200" y="2889481"/>
            <a:ext cx="509016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其中，</a:t>
            </a:r>
            <a:r>
              <a:rPr lang="en-US" altLang="zh-CN" sz="2000" b="1" dirty="0" smtClean="0">
                <a:solidFill>
                  <a:srgbClr val="0F1115"/>
                </a:solidFill>
                <a:latin typeface="quote-cjk-patch"/>
              </a:rPr>
              <a:t>k</a:t>
            </a:r>
            <a:r>
              <a:rPr lang="en-US" altLang="zh-CN" sz="2000" dirty="0" smtClean="0">
                <a:solidFill>
                  <a:srgbClr val="0F1115"/>
                </a:solidFill>
                <a:latin typeface="quote-cjk-patch"/>
              </a:rPr>
              <a:t> </a:t>
            </a:r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是</a:t>
            </a:r>
            <a:r>
              <a:rPr lang="zh-CN" altLang="en-US" sz="2000" dirty="0" smtClean="0"/>
              <a:t>波矢量，包括方向和波长信息</a:t>
            </a:r>
            <a:endParaRPr lang="en-US" altLang="zh-CN" sz="2000" dirty="0" smtClean="0"/>
          </a:p>
          <a:p>
            <a:r>
              <a:rPr lang="zh-CN" altLang="en-US" sz="2000" dirty="0" smtClean="0"/>
              <a:t>       （</a:t>
            </a:r>
            <a:r>
              <a:rPr lang="en-US" altLang="zh-CN" sz="2000" b="1" dirty="0" smtClean="0">
                <a:solidFill>
                  <a:srgbClr val="0F1115"/>
                </a:solidFill>
                <a:latin typeface="quote-cjk-patch"/>
              </a:rPr>
              <a:t>k </a:t>
            </a:r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越大表示波数多，波长短）</a:t>
            </a:r>
            <a:r>
              <a:rPr lang="zh-CN" altLang="en-US" sz="2000" dirty="0" smtClean="0"/>
              <a:t>；</a:t>
            </a:r>
            <a:endParaRPr lang="en-US" altLang="zh-CN" sz="2000" dirty="0" smtClean="0"/>
          </a:p>
          <a:p>
            <a:r>
              <a:rPr lang="el-GR" altLang="zh-CN" sz="2000" b="1" dirty="0" smtClean="0"/>
              <a:t>ω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是角频率，控制波的上下振动快慢</a:t>
            </a:r>
            <a:endParaRPr lang="en-US" altLang="zh-CN" sz="2000" dirty="0" smtClean="0"/>
          </a:p>
          <a:p>
            <a:r>
              <a:rPr lang="zh-CN" altLang="en-US" sz="2000" dirty="0" smtClean="0"/>
              <a:t>              （</a:t>
            </a:r>
            <a:r>
              <a:rPr lang="el-GR" altLang="zh-CN" sz="2000" b="1" dirty="0" smtClean="0"/>
              <a:t> ω</a:t>
            </a:r>
            <a:r>
              <a:rPr lang="en-US" altLang="zh-CN" sz="2000" b="1" dirty="0" smtClean="0"/>
              <a:t> </a:t>
            </a:r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越大表示频率高）</a:t>
            </a:r>
            <a:endParaRPr lang="zh-CN" altLang="en-US" sz="2000" dirty="0">
              <a:solidFill>
                <a:srgbClr val="0F1115"/>
              </a:solidFill>
              <a:latin typeface="quote-cjk-patch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219200" y="4369720"/>
            <a:ext cx="9207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把正弦波代入前面的水面方程得到：</a:t>
            </a:r>
            <a:endParaRPr lang="zh-CN" altLang="en-US" sz="2000" dirty="0">
              <a:solidFill>
                <a:srgbClr val="0F1115"/>
              </a:solidFill>
              <a:latin typeface="quote-cjk-patch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1485" y="4839583"/>
            <a:ext cx="3098745" cy="751210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1219200" y="5603995"/>
            <a:ext cx="9207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解得 </a:t>
            </a:r>
            <a:r>
              <a:rPr lang="en-US" altLang="zh-CN" sz="2000" dirty="0" smtClean="0"/>
              <a:t>h0 = 0 </a:t>
            </a:r>
            <a:r>
              <a:rPr lang="zh-CN" altLang="en-US" sz="2000" dirty="0" smtClean="0"/>
              <a:t>或 </a:t>
            </a:r>
            <a:r>
              <a:rPr lang="el-GR" altLang="zh-CN" sz="2000" dirty="0" smtClean="0"/>
              <a:t>ω = √(</a:t>
            </a:r>
            <a:r>
              <a:rPr lang="en-US" altLang="zh-CN" sz="2000" dirty="0" err="1" smtClean="0"/>
              <a:t>gk</a:t>
            </a:r>
            <a:r>
              <a:rPr lang="en-US" altLang="zh-CN" sz="2000" dirty="0" smtClean="0"/>
              <a:t>) </a:t>
            </a:r>
          </a:p>
          <a:p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其中后者就是色散的核心结论：</a:t>
            </a:r>
            <a:endParaRPr lang="en-US" altLang="zh-CN" sz="2000" dirty="0" smtClean="0">
              <a:solidFill>
                <a:srgbClr val="0F1115"/>
              </a:solidFill>
              <a:latin typeface="quote-cjk-patch"/>
            </a:endParaRPr>
          </a:p>
          <a:p>
            <a:r>
              <a:rPr lang="en-US" altLang="zh-CN" sz="2000" b="1" dirty="0" smtClean="0"/>
              <a:t>	</a:t>
            </a:r>
            <a:r>
              <a:rPr lang="zh-CN" altLang="en-US" sz="2000" b="1" dirty="0" smtClean="0"/>
              <a:t>波长决定频率</a:t>
            </a:r>
            <a:r>
              <a:rPr lang="zh-CN" altLang="en-US" sz="2000" b="1" dirty="0"/>
              <a:t>，</a:t>
            </a:r>
            <a:r>
              <a:rPr lang="zh-CN" altLang="en-US" sz="2000" b="1" dirty="0" smtClean="0">
                <a:solidFill>
                  <a:srgbClr val="0F1115"/>
                </a:solidFill>
                <a:latin typeface="quote-cjk-patch"/>
              </a:rPr>
              <a:t>波长越短，频率越高</a:t>
            </a:r>
            <a:endParaRPr lang="zh-CN" altLang="en-US" sz="2000" b="1" dirty="0">
              <a:solidFill>
                <a:srgbClr val="0F1115"/>
              </a:solidFill>
              <a:latin typeface="quote-cjk-patch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511" y="2676296"/>
            <a:ext cx="4628289" cy="329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470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185" y="2126171"/>
            <a:ext cx="5103788" cy="11299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8437" y="226003"/>
            <a:ext cx="3119891" cy="2792742"/>
          </a:xfrm>
          <a:prstGeom prst="rect">
            <a:avLst/>
          </a:prstGeom>
          <a:effectLst>
            <a:reflection stA="0" endPos="65000" dist="50800" dir="5400000" sy="-100000" algn="bl" rotWithShape="0"/>
          </a:effectLst>
        </p:spPr>
      </p:pic>
      <p:sp>
        <p:nvSpPr>
          <p:cNvPr id="18" name="圆角矩形 17"/>
          <p:cNvSpPr/>
          <p:nvPr/>
        </p:nvSpPr>
        <p:spPr>
          <a:xfrm>
            <a:off x="1219200" y="4603200"/>
            <a:ext cx="10134600" cy="46986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 smtClean="0"/>
              <a:t>Gerstner Waves</a:t>
            </a:r>
            <a:endParaRPr lang="zh-CN" altLang="en-US" sz="3600" dirty="0"/>
          </a:p>
        </p:txBody>
      </p:sp>
      <p:sp>
        <p:nvSpPr>
          <p:cNvPr id="9" name="矩形 8"/>
          <p:cNvSpPr/>
          <p:nvPr/>
        </p:nvSpPr>
        <p:spPr>
          <a:xfrm>
            <a:off x="1219200" y="1458189"/>
            <a:ext cx="969264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核心思想：真实水面的水点不是只有正弦波一样上下动，</a:t>
            </a:r>
            <a:endParaRPr lang="en-US" altLang="zh-CN" sz="2000" dirty="0" smtClean="0">
              <a:solidFill>
                <a:srgbClr val="0F1115"/>
              </a:solidFill>
              <a:latin typeface="quote-cjk-patch"/>
            </a:endParaRPr>
          </a:p>
          <a:p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而是沿着近似圆形轨迹运动</a:t>
            </a:r>
            <a:endParaRPr lang="zh-CN" altLang="en-US" sz="2000" dirty="0">
              <a:solidFill>
                <a:srgbClr val="0F1115"/>
              </a:solidFill>
              <a:latin typeface="quote-cjk-patch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219201" y="4672953"/>
            <a:ext cx="101345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/>
              <a:t>但是单个 </a:t>
            </a:r>
            <a:r>
              <a:rPr lang="en-US" altLang="zh-CN" sz="2000" dirty="0" smtClean="0"/>
              <a:t>Gerstner </a:t>
            </a:r>
            <a:r>
              <a:rPr lang="zh-CN" altLang="en-US" sz="2000" dirty="0" smtClean="0"/>
              <a:t>波只有一种方向</a:t>
            </a:r>
            <a:r>
              <a:rPr lang="en-US" altLang="zh-CN" sz="2000" dirty="0" smtClean="0"/>
              <a:t>/</a:t>
            </a:r>
            <a:r>
              <a:rPr lang="zh-CN" altLang="en-US" sz="2000" dirty="0" smtClean="0"/>
              <a:t>波长</a:t>
            </a:r>
            <a:r>
              <a:rPr lang="en-US" altLang="zh-CN" sz="2000" dirty="0" smtClean="0"/>
              <a:t>/</a:t>
            </a:r>
            <a:r>
              <a:rPr lang="zh-CN" altLang="en-US" sz="2000" dirty="0" smtClean="0"/>
              <a:t>高度，太规则重复；真实海面应由很多波叠加：</a:t>
            </a:r>
            <a:endParaRPr lang="zh-CN" altLang="en-US" sz="2000" dirty="0"/>
          </a:p>
        </p:txBody>
      </p:sp>
      <p:sp>
        <p:nvSpPr>
          <p:cNvPr id="7" name="矩形 6"/>
          <p:cNvSpPr/>
          <p:nvPr/>
        </p:nvSpPr>
        <p:spPr>
          <a:xfrm>
            <a:off x="1219200" y="3219313"/>
            <a:ext cx="986028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其中，</a:t>
            </a:r>
            <a:r>
              <a:rPr lang="en-US" altLang="zh-CN" sz="2000" dirty="0" smtClean="0">
                <a:solidFill>
                  <a:srgbClr val="0F1115"/>
                </a:solidFill>
                <a:latin typeface="quote-cjk-patch"/>
              </a:rPr>
              <a:t>A </a:t>
            </a:r>
            <a:r>
              <a:rPr lang="zh-CN" altLang="en-US" sz="2000" dirty="0" smtClean="0"/>
              <a:t>是 </a:t>
            </a:r>
            <a:r>
              <a:rPr lang="en-US" altLang="zh-CN" sz="2000" dirty="0" smtClean="0"/>
              <a:t>amplitude</a:t>
            </a:r>
            <a:r>
              <a:rPr lang="zh-CN" altLang="en-US" sz="2000" dirty="0" smtClean="0"/>
              <a:t>，表示振幅，</a:t>
            </a:r>
            <a:r>
              <a:rPr lang="en-US" altLang="zh-CN" sz="2000" dirty="0" smtClean="0"/>
              <a:t>x</a:t>
            </a:r>
            <a:r>
              <a:rPr lang="zh-CN" altLang="en-US" sz="2000" dirty="0" smtClean="0"/>
              <a:t>表示水平位置</a:t>
            </a:r>
            <a:r>
              <a:rPr lang="en-US" altLang="zh-CN" sz="2000" dirty="0" smtClean="0"/>
              <a:t>(x, z)</a:t>
            </a:r>
            <a:r>
              <a:rPr lang="zh-CN" altLang="en-US" sz="2000" dirty="0" smtClean="0"/>
              <a:t>，</a:t>
            </a:r>
            <a:r>
              <a:rPr lang="en-US" altLang="zh-CN" sz="2000" dirty="0" smtClean="0"/>
              <a:t>y</a:t>
            </a:r>
            <a:r>
              <a:rPr lang="zh-CN" altLang="en-US" sz="2000" dirty="0" smtClean="0"/>
              <a:t>表示水面高度，</a:t>
            </a:r>
            <a:r>
              <a:rPr lang="en-US" altLang="zh-CN" sz="2000" b="1" dirty="0" smtClean="0"/>
              <a:t>k</a:t>
            </a:r>
            <a:r>
              <a:rPr lang="zh-CN" altLang="en-US" sz="2000" dirty="0" smtClean="0"/>
              <a:t>表示波矢量，所以 </a:t>
            </a:r>
            <a:r>
              <a:rPr lang="en-US" altLang="zh-CN" sz="2000" b="1" dirty="0" smtClean="0"/>
              <a:t>k</a:t>
            </a:r>
            <a:r>
              <a:rPr lang="en-US" altLang="zh-CN" sz="2000" dirty="0" smtClean="0"/>
              <a:t>/k </a:t>
            </a:r>
            <a:r>
              <a:rPr lang="zh-CN" altLang="en-US" sz="2000" dirty="0" smtClean="0"/>
              <a:t>也就表示了波传播方向的单位向量； </a:t>
            </a:r>
            <a:r>
              <a:rPr lang="el-GR" altLang="zh-CN" sz="2000" dirty="0" smtClean="0"/>
              <a:t>ω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表示角频率，</a:t>
            </a:r>
            <a:r>
              <a:rPr lang="en-US" altLang="zh-CN" sz="2000" dirty="0" smtClean="0"/>
              <a:t>t </a:t>
            </a:r>
            <a:r>
              <a:rPr lang="zh-CN" altLang="en-US" sz="2000" dirty="0" smtClean="0"/>
              <a:t>表示时间</a:t>
            </a:r>
            <a:endParaRPr lang="en-US" altLang="zh-CN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 smtClean="0"/>
              <a:t>k · x0 − </a:t>
            </a:r>
            <a:r>
              <a:rPr lang="el-GR" altLang="zh-CN" sz="2000" dirty="0" smtClean="0"/>
              <a:t>ω</a:t>
            </a:r>
            <a:r>
              <a:rPr lang="en-US" altLang="zh-CN" sz="2000" dirty="0" smtClean="0"/>
              <a:t>t </a:t>
            </a:r>
            <a:r>
              <a:rPr lang="zh-CN" altLang="en-US" sz="2000" dirty="0" smtClean="0"/>
              <a:t>定义为 </a:t>
            </a:r>
            <a:r>
              <a:rPr lang="en-US" altLang="zh-CN" sz="2000" dirty="0" smtClean="0"/>
              <a:t>phase</a:t>
            </a:r>
            <a:r>
              <a:rPr lang="zh-CN" altLang="en-US" sz="2000" dirty="0" smtClean="0"/>
              <a:t>（相位），表示点在 </a:t>
            </a:r>
            <a:r>
              <a:rPr lang="en-US" altLang="zh-CN" sz="2000" dirty="0" smtClean="0"/>
              <a:t>t </a:t>
            </a:r>
            <a:r>
              <a:rPr lang="zh-CN" altLang="en-US" sz="2000" dirty="0" smtClean="0"/>
              <a:t>时刻处在波的哪个位置</a:t>
            </a:r>
            <a:endParaRPr lang="en-US" altLang="zh-CN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 smtClean="0"/>
              <a:t>kA </a:t>
            </a:r>
            <a:r>
              <a:rPr lang="zh-CN" altLang="en-US" sz="2000" dirty="0" smtClean="0"/>
              <a:t>即波数 </a:t>
            </a:r>
            <a:r>
              <a:rPr lang="en-US" altLang="zh-CN" sz="2000" dirty="0" smtClean="0"/>
              <a:t>× </a:t>
            </a:r>
            <a:r>
              <a:rPr lang="zh-CN" altLang="en-US" sz="2000" dirty="0" smtClean="0"/>
              <a:t>振幅，定义为 </a:t>
            </a:r>
            <a:r>
              <a:rPr lang="en-US" altLang="zh-CN" sz="2000" dirty="0" smtClean="0"/>
              <a:t>wave steepness</a:t>
            </a:r>
            <a:r>
              <a:rPr lang="zh-CN" altLang="en-US" sz="2000" dirty="0" smtClean="0"/>
              <a:t>（波陡度），越高越陡</a:t>
            </a:r>
            <a:endParaRPr lang="en-US" altLang="zh-CN" sz="2000" dirty="0" smtClean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5404445"/>
            <a:ext cx="5096631" cy="78528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5831" y="5273631"/>
            <a:ext cx="4574189" cy="104691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248531" y="6251813"/>
            <a:ext cx="101345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/>
              <a:t>每个波的 </a:t>
            </a:r>
            <a:r>
              <a:rPr lang="en-US" altLang="zh-CN" sz="2000" dirty="0" smtClean="0"/>
              <a:t>k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A</a:t>
            </a:r>
            <a:r>
              <a:rPr lang="zh-CN" altLang="en-US" sz="2000" dirty="0" smtClean="0"/>
              <a:t>、</a:t>
            </a:r>
            <a:r>
              <a:rPr lang="el-GR" altLang="zh-CN" sz="2000" dirty="0" smtClean="0"/>
              <a:t> ω</a:t>
            </a:r>
            <a:r>
              <a:rPr lang="zh-CN" altLang="en-US" sz="2000" dirty="0" smtClean="0"/>
              <a:t>不同。值得一提的是 </a:t>
            </a:r>
            <a:r>
              <a:rPr lang="el-GR" altLang="zh-CN" sz="2000" dirty="0" smtClean="0"/>
              <a:t>φ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表示初始</a:t>
            </a:r>
            <a:r>
              <a:rPr lang="en-US" altLang="zh-CN" sz="2000" dirty="0" smtClean="0"/>
              <a:t>phase</a:t>
            </a:r>
            <a:r>
              <a:rPr lang="zh-CN" altLang="en-US" sz="2000" dirty="0" smtClean="0"/>
              <a:t>，让每个波从不同位置开始。</a:t>
            </a:r>
            <a:endParaRPr lang="en-US" altLang="zh-CN" sz="2000" dirty="0" smtClean="0"/>
          </a:p>
        </p:txBody>
      </p:sp>
    </p:spTree>
    <p:extLst>
      <p:ext uri="{BB962C8B-B14F-4D97-AF65-F5344CB8AC3E}">
        <p14:creationId xmlns:p14="http://schemas.microsoft.com/office/powerpoint/2010/main" val="3100873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 smtClean="0"/>
              <a:t>Gerstner Waves</a:t>
            </a:r>
            <a:endParaRPr lang="zh-CN" altLang="en-US" sz="3600" dirty="0"/>
          </a:p>
        </p:txBody>
      </p:sp>
      <p:sp>
        <p:nvSpPr>
          <p:cNvPr id="10" name="圆角矩形 9"/>
          <p:cNvSpPr/>
          <p:nvPr/>
        </p:nvSpPr>
        <p:spPr>
          <a:xfrm>
            <a:off x="697810" y="2962252"/>
            <a:ext cx="9028540" cy="132535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697810" y="1636688"/>
            <a:ext cx="8986050" cy="115872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38200" y="1660027"/>
            <a:ext cx="874776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rgbClr val="0F1115"/>
                </a:solidFill>
                <a:latin typeface="quote-cjk-patch"/>
              </a:rPr>
              <a:t>深水波：</a:t>
            </a:r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由 </a:t>
            </a:r>
            <a:r>
              <a:rPr lang="en-US" altLang="zh-CN" sz="2000" dirty="0" smtClean="0"/>
              <a:t>Dispersion </a:t>
            </a:r>
            <a:r>
              <a:rPr lang="zh-CN" altLang="en-US" sz="2000" dirty="0" smtClean="0"/>
              <a:t>推导可知，</a:t>
            </a:r>
            <a:r>
              <a:rPr lang="el-GR" altLang="zh-CN" sz="2000" dirty="0" smtClean="0"/>
              <a:t> ω²(</a:t>
            </a:r>
            <a:r>
              <a:rPr lang="en-US" altLang="zh-CN" sz="2000" dirty="0" smtClean="0"/>
              <a:t>k) = </a:t>
            </a:r>
            <a:r>
              <a:rPr lang="en-US" altLang="zh-CN" sz="2000" dirty="0" err="1" smtClean="0"/>
              <a:t>gk</a:t>
            </a:r>
            <a:r>
              <a:rPr lang="zh-CN" altLang="en-US" sz="2000" dirty="0" smtClean="0"/>
              <a:t>，深水区波的频率由波数决定</a:t>
            </a:r>
            <a:endParaRPr lang="en-US" altLang="zh-CN" sz="2000" dirty="0" smtClean="0"/>
          </a:p>
          <a:p>
            <a:r>
              <a:rPr lang="zh-CN" altLang="en-US" sz="2000" b="1" dirty="0" smtClean="0">
                <a:solidFill>
                  <a:srgbClr val="0F1115"/>
                </a:solidFill>
                <a:latin typeface="quote-cjk-patch"/>
              </a:rPr>
              <a:t>浅水波：</a:t>
            </a:r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然而水浅时，海底会影响波速，公式变为</a:t>
            </a:r>
            <a:r>
              <a:rPr lang="el-GR" altLang="zh-CN" sz="2000" dirty="0" smtClean="0"/>
              <a:t>ω²(</a:t>
            </a:r>
            <a:r>
              <a:rPr lang="en-US" altLang="zh-CN" sz="2000" dirty="0" smtClean="0"/>
              <a:t>k) = </a:t>
            </a:r>
            <a:r>
              <a:rPr lang="en-US" altLang="zh-CN" sz="2000" dirty="0" err="1" smtClean="0"/>
              <a:t>gk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tanh</a:t>
            </a:r>
            <a:r>
              <a:rPr lang="en-US" altLang="zh-CN" sz="2000" dirty="0" smtClean="0"/>
              <a:t>(</a:t>
            </a:r>
            <a:r>
              <a:rPr lang="en-US" altLang="zh-CN" sz="2000" dirty="0" err="1" smtClean="0"/>
              <a:t>kD</a:t>
            </a:r>
            <a:r>
              <a:rPr lang="en-US" altLang="zh-CN" sz="2000" dirty="0" smtClean="0"/>
              <a:t>)</a:t>
            </a:r>
            <a:r>
              <a:rPr lang="zh-CN" altLang="en-US" sz="2000" dirty="0" smtClean="0"/>
              <a:t>，其中       </a:t>
            </a:r>
            <a:r>
              <a:rPr lang="en-US" altLang="zh-CN" sz="2000" dirty="0" smtClean="0"/>
              <a:t>D</a:t>
            </a:r>
            <a:r>
              <a:rPr lang="zh-CN" altLang="en-US" sz="2000" dirty="0" smtClean="0"/>
              <a:t>表示水深</a:t>
            </a:r>
            <a:r>
              <a:rPr lang="en-US" altLang="zh-CN" sz="2000" dirty="0" smtClean="0"/>
              <a:t>depth</a:t>
            </a:r>
            <a:r>
              <a:rPr lang="zh-CN" altLang="en-US" sz="2000" dirty="0" smtClean="0"/>
              <a:t>，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kD</a:t>
            </a:r>
            <a:r>
              <a:rPr lang="zh-CN" altLang="en-US" sz="2000" dirty="0" smtClean="0"/>
              <a:t>用于判断水深相对波长关系，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tanh</a:t>
            </a:r>
            <a:r>
              <a:rPr lang="zh-CN" altLang="en-US" sz="2000" dirty="0" smtClean="0"/>
              <a:t>是双曲正切函数</a:t>
            </a:r>
            <a:endParaRPr lang="zh-CN" altLang="en-US" sz="2000" dirty="0">
              <a:solidFill>
                <a:srgbClr val="0F1115"/>
              </a:solidFill>
              <a:latin typeface="quote-cjk-patch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36100" y="3136825"/>
            <a:ext cx="874776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/>
              <a:t>表面张力修正：</a:t>
            </a:r>
            <a:r>
              <a:rPr lang="zh-CN" altLang="en-US" sz="2000" dirty="0" smtClean="0"/>
              <a:t>论文提出，对于波长 </a:t>
            </a:r>
            <a:r>
              <a:rPr lang="en-US" altLang="zh-CN" sz="2000" dirty="0" smtClean="0"/>
              <a:t>&lt; 1cm</a:t>
            </a:r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的小波，表面张力会明显影响波。此时修正 </a:t>
            </a:r>
            <a:r>
              <a:rPr lang="en-US" altLang="zh-CN" sz="2000" dirty="0" smtClean="0"/>
              <a:t>Dispersion </a:t>
            </a:r>
            <a:r>
              <a:rPr lang="zh-CN" altLang="en-US" sz="2000" dirty="0" smtClean="0"/>
              <a:t>公式为 </a:t>
            </a:r>
            <a:r>
              <a:rPr lang="el-GR" altLang="zh-CN" sz="2000" dirty="0" smtClean="0"/>
              <a:t>ω²(</a:t>
            </a:r>
            <a:r>
              <a:rPr lang="en-US" altLang="zh-CN" sz="2000" dirty="0" smtClean="0"/>
              <a:t>k) = </a:t>
            </a:r>
            <a:r>
              <a:rPr lang="en-US" altLang="zh-CN" sz="2000" dirty="0" err="1" smtClean="0"/>
              <a:t>gk</a:t>
            </a:r>
            <a:r>
              <a:rPr lang="en-US" altLang="zh-CN" sz="2000" dirty="0" smtClean="0"/>
              <a:t>(1 + k²L²)</a:t>
            </a:r>
            <a:r>
              <a:rPr lang="zh-CN" altLang="en-US" sz="2000" dirty="0" smtClean="0"/>
              <a:t>，其中 </a:t>
            </a:r>
            <a:r>
              <a:rPr lang="en-US" altLang="zh-CN" sz="2000" dirty="0" smtClean="0"/>
              <a:t>k </a:t>
            </a:r>
            <a:r>
              <a:rPr lang="zh-CN" altLang="en-US" sz="2000" dirty="0" smtClean="0"/>
              <a:t>为波数，</a:t>
            </a:r>
            <a:r>
              <a:rPr lang="en-US" altLang="zh-CN" sz="2000" dirty="0" smtClean="0"/>
              <a:t>L</a:t>
            </a:r>
            <a:r>
              <a:rPr lang="zh-CN" altLang="en-US" sz="2000" dirty="0" smtClean="0"/>
              <a:t>为表面张力影响尺度，</a:t>
            </a:r>
            <a:r>
              <a:rPr lang="en-US" altLang="zh-CN" sz="2000" dirty="0" smtClean="0"/>
              <a:t> k²L²</a:t>
            </a:r>
            <a:r>
              <a:rPr lang="zh-CN" altLang="en-US" sz="2000" dirty="0" smtClean="0"/>
              <a:t>为表面张力修正项，波越短，</a:t>
            </a:r>
            <a:r>
              <a:rPr lang="en-US" altLang="zh-CN" sz="2000" dirty="0" smtClean="0"/>
              <a:t>k</a:t>
            </a:r>
            <a:r>
              <a:rPr lang="zh-CN" altLang="en-US" sz="2000" dirty="0" smtClean="0"/>
              <a:t>越大，</a:t>
            </a:r>
            <a:r>
              <a:rPr lang="en-US" altLang="zh-CN" sz="2000" dirty="0" smtClean="0"/>
              <a:t> k²L²</a:t>
            </a:r>
            <a:r>
              <a:rPr lang="zh-CN" altLang="en-US" sz="2000" dirty="0" smtClean="0"/>
              <a:t>越大</a:t>
            </a:r>
            <a:endParaRPr lang="en-US" altLang="zh-CN" sz="2000" dirty="0" smtClean="0"/>
          </a:p>
        </p:txBody>
      </p:sp>
      <p:sp>
        <p:nvSpPr>
          <p:cNvPr id="14" name="圆角矩形 13"/>
          <p:cNvSpPr/>
          <p:nvPr/>
        </p:nvSpPr>
        <p:spPr>
          <a:xfrm>
            <a:off x="697810" y="4462179"/>
            <a:ext cx="8986050" cy="133897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936100" y="4662534"/>
            <a:ext cx="874776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/>
              <a:t>循环动画的基本频率：</a:t>
            </a:r>
            <a:r>
              <a:rPr lang="el-GR" altLang="zh-CN" sz="2000" b="1" dirty="0" smtClean="0"/>
              <a:t> </a:t>
            </a:r>
            <a:r>
              <a:rPr lang="el-GR" altLang="zh-CN" sz="2000" dirty="0" smtClean="0"/>
              <a:t>ω0 = 2π / </a:t>
            </a:r>
            <a:r>
              <a:rPr lang="en-US" altLang="zh-CN" sz="2000" dirty="0" smtClean="0"/>
              <a:t>T</a:t>
            </a:r>
            <a:r>
              <a:rPr lang="zh-CN" altLang="en-US" sz="2000" dirty="0" smtClean="0"/>
              <a:t>，要求所有波的频率最好都是它的整数倍</a:t>
            </a:r>
            <a:endParaRPr lang="en-US" altLang="zh-CN" sz="2000" dirty="0" smtClean="0"/>
          </a:p>
          <a:p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这里的</a:t>
            </a:r>
            <a:r>
              <a:rPr lang="en-US" altLang="zh-CN" sz="2000" dirty="0" smtClean="0">
                <a:solidFill>
                  <a:srgbClr val="0F1115"/>
                </a:solidFill>
                <a:latin typeface="quote-cjk-patch"/>
              </a:rPr>
              <a:t>T</a:t>
            </a:r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表示循环时间，因此</a:t>
            </a:r>
            <a:r>
              <a:rPr lang="el-GR" altLang="zh-CN" sz="2000" dirty="0" smtClean="0"/>
              <a:t>ω0</a:t>
            </a:r>
            <a:r>
              <a:rPr lang="zh-CN" altLang="en-US" sz="2000" dirty="0"/>
              <a:t>即</a:t>
            </a:r>
            <a:r>
              <a:rPr lang="zh-CN" altLang="en-US" sz="2000" dirty="0" smtClean="0"/>
              <a:t>在</a:t>
            </a:r>
            <a:r>
              <a:rPr lang="en-US" altLang="zh-CN" sz="2000" dirty="0" smtClean="0"/>
              <a:t>T</a:t>
            </a:r>
            <a:r>
              <a:rPr lang="zh-CN" altLang="en-US" sz="2000" dirty="0" smtClean="0"/>
              <a:t>时间内完成一次循环的频率（最低频率）</a:t>
            </a:r>
            <a:endParaRPr lang="en-US" altLang="zh-CN" sz="2000" dirty="0" smtClean="0"/>
          </a:p>
          <a:p>
            <a:r>
              <a:rPr lang="el-GR" altLang="zh-CN" sz="2000" dirty="0" smtClean="0"/>
              <a:t>ω̄(</a:t>
            </a:r>
            <a:r>
              <a:rPr lang="en-US" altLang="zh-CN" sz="2000" dirty="0" smtClean="0"/>
              <a:t>k) = [[</a:t>
            </a:r>
            <a:r>
              <a:rPr lang="el-GR" altLang="zh-CN" sz="2000" dirty="0" smtClean="0"/>
              <a:t>ω(</a:t>
            </a:r>
            <a:r>
              <a:rPr lang="en-US" altLang="zh-CN" sz="2000" dirty="0" smtClean="0"/>
              <a:t>k) / </a:t>
            </a:r>
            <a:r>
              <a:rPr lang="el-GR" altLang="zh-CN" sz="2000" dirty="0" smtClean="0"/>
              <a:t>ω0]] ω0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通过取整后乘以</a:t>
            </a:r>
            <a:r>
              <a:rPr lang="el-GR" altLang="zh-CN" sz="2000" dirty="0" smtClean="0"/>
              <a:t>ω0</a:t>
            </a:r>
            <a:r>
              <a:rPr lang="zh-CN" altLang="en-US" sz="2000" dirty="0" smtClean="0"/>
              <a:t>的方式实现频率整数倍的要求</a:t>
            </a:r>
            <a:endParaRPr lang="zh-CN" altLang="en-US" sz="2000" dirty="0">
              <a:solidFill>
                <a:srgbClr val="0F1115"/>
              </a:solidFill>
              <a:latin typeface="quote-cjk-patch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915" y="1533672"/>
            <a:ext cx="1789996" cy="64931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4250" y="2182984"/>
            <a:ext cx="2515593" cy="53703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8197" y="3338757"/>
            <a:ext cx="2551646" cy="61179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7824" y="4381088"/>
            <a:ext cx="1329640" cy="807281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6350" y="5201565"/>
            <a:ext cx="2566619" cy="87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525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17"/>
          <p:cNvSpPr/>
          <p:nvPr/>
        </p:nvSpPr>
        <p:spPr>
          <a:xfrm>
            <a:off x="1219200" y="4603200"/>
            <a:ext cx="5286532" cy="81512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 err="1" smtClean="0"/>
              <a:t>Tessendorf</a:t>
            </a:r>
            <a:r>
              <a:rPr lang="en-US" altLang="zh-CN" sz="4000" dirty="0" smtClean="0"/>
              <a:t> FFT</a:t>
            </a:r>
            <a:r>
              <a:rPr lang="zh-CN" altLang="en-US" sz="4000" dirty="0" smtClean="0"/>
              <a:t> </a:t>
            </a:r>
            <a:r>
              <a:rPr lang="en-US" altLang="zh-CN" sz="4000" dirty="0"/>
              <a:t>(Fast Fourier Transform)</a:t>
            </a:r>
            <a:endParaRPr lang="zh-CN" altLang="en-US" sz="4000" dirty="0"/>
          </a:p>
        </p:txBody>
      </p:sp>
      <p:sp>
        <p:nvSpPr>
          <p:cNvPr id="9" name="矩形 8"/>
          <p:cNvSpPr/>
          <p:nvPr/>
        </p:nvSpPr>
        <p:spPr>
          <a:xfrm>
            <a:off x="1219200" y="1458189"/>
            <a:ext cx="10134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核心思想：</a:t>
            </a:r>
            <a:r>
              <a:rPr lang="en-US" altLang="zh-CN" sz="2000" dirty="0" smtClean="0"/>
              <a:t>Gerstner Waves</a:t>
            </a:r>
            <a:r>
              <a:rPr lang="zh-CN" altLang="en-US" sz="2000" dirty="0" smtClean="0"/>
              <a:t>是手工调波，难以模拟真实复杂海面；应由统计规律自动生成</a:t>
            </a:r>
            <a:endParaRPr lang="zh-CN" altLang="en-US" sz="2000" dirty="0">
              <a:solidFill>
                <a:srgbClr val="0F1115"/>
              </a:solidFill>
              <a:latin typeface="quote-cjk-patch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219202" y="4672953"/>
            <a:ext cx="528653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/>
              <a:t>论文还补充了位置 </a:t>
            </a:r>
            <a:r>
              <a:rPr lang="en-US" altLang="zh-CN" sz="2000" dirty="0" smtClean="0"/>
              <a:t>x</a:t>
            </a:r>
            <a:r>
              <a:rPr lang="zh-CN" altLang="en-US" sz="2000" dirty="0"/>
              <a:t> </a:t>
            </a:r>
            <a:r>
              <a:rPr lang="zh-CN" altLang="en-US" sz="2000" dirty="0" smtClean="0"/>
              <a:t>在 </a:t>
            </a:r>
            <a:r>
              <a:rPr lang="en-US" altLang="zh-CN" sz="2000" dirty="0" smtClean="0"/>
              <a:t>t </a:t>
            </a:r>
            <a:r>
              <a:rPr lang="zh-CN" altLang="en-US" sz="2000" dirty="0" smtClean="0"/>
              <a:t>时刻的法线计算方式：</a:t>
            </a:r>
            <a:endParaRPr lang="en-US" altLang="zh-CN" sz="2000" dirty="0" smtClean="0"/>
          </a:p>
          <a:p>
            <a:r>
              <a:rPr lang="zh-CN" altLang="en-US" sz="2000" dirty="0" smtClean="0"/>
              <a:t>即对高度场函数求梯度得 </a:t>
            </a:r>
            <a:r>
              <a:rPr lang="en-US" altLang="zh-CN" sz="2000" dirty="0" smtClean="0"/>
              <a:t>∇h(</a:t>
            </a:r>
            <a:r>
              <a:rPr lang="en-US" altLang="zh-CN" sz="2000" dirty="0" err="1" smtClean="0"/>
              <a:t>x,t</a:t>
            </a:r>
            <a:r>
              <a:rPr lang="en-US" altLang="zh-CN" sz="2000" dirty="0" smtClean="0"/>
              <a:t>) </a:t>
            </a:r>
            <a:endParaRPr lang="zh-CN" altLang="en-US" sz="2000" dirty="0"/>
          </a:p>
        </p:txBody>
      </p:sp>
      <p:sp>
        <p:nvSpPr>
          <p:cNvPr id="7" name="矩形 6"/>
          <p:cNvSpPr/>
          <p:nvPr/>
        </p:nvSpPr>
        <p:spPr>
          <a:xfrm>
            <a:off x="1219199" y="2822703"/>
            <a:ext cx="1016393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基于</a:t>
            </a:r>
            <a:r>
              <a:rPr lang="en-US" altLang="zh-CN" sz="2000" dirty="0" smtClean="0">
                <a:solidFill>
                  <a:srgbClr val="0F1115"/>
                </a:solidFill>
                <a:latin typeface="quote-cjk-patch"/>
              </a:rPr>
              <a:t>FFT</a:t>
            </a:r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的波高度场表示的核心思想如上图所示，这是一个傅里叶逆变换（</a:t>
            </a:r>
            <a:r>
              <a:rPr lang="en-US" altLang="zh-CN" sz="2000" dirty="0" smtClean="0">
                <a:solidFill>
                  <a:srgbClr val="0F1115"/>
                </a:solidFill>
                <a:latin typeface="quote-cjk-patch"/>
              </a:rPr>
              <a:t>Inverse DFT</a:t>
            </a:r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）。其中，</a:t>
            </a:r>
            <a:r>
              <a:rPr lang="en-US" altLang="zh-CN" sz="2000" dirty="0" smtClean="0"/>
              <a:t>h(</a:t>
            </a:r>
            <a:r>
              <a:rPr lang="en-US" altLang="zh-CN" sz="2000" b="1" dirty="0" err="1" smtClean="0"/>
              <a:t>x</a:t>
            </a:r>
            <a:r>
              <a:rPr lang="en-US" altLang="zh-CN" sz="2000" dirty="0" err="1" smtClean="0"/>
              <a:t>,t</a:t>
            </a:r>
            <a:r>
              <a:rPr lang="en-US" altLang="zh-CN" sz="2000" dirty="0" smtClean="0"/>
              <a:t>) </a:t>
            </a:r>
            <a:r>
              <a:rPr lang="zh-CN" altLang="en-US" sz="2000" dirty="0" smtClean="0"/>
              <a:t>是高度场，表示位置</a:t>
            </a:r>
            <a:r>
              <a:rPr lang="zh-CN" altLang="en-US" sz="2000" b="1" dirty="0" smtClean="0"/>
              <a:t> </a:t>
            </a:r>
            <a:r>
              <a:rPr lang="en-US" altLang="zh-CN" sz="2000" b="1" dirty="0" smtClean="0"/>
              <a:t>x</a:t>
            </a:r>
            <a:r>
              <a:rPr lang="zh-CN" altLang="en-US" sz="2000" dirty="0" smtClean="0"/>
              <a:t>、时间 </a:t>
            </a:r>
            <a:r>
              <a:rPr lang="en-US" altLang="zh-CN" sz="2000" dirty="0" smtClean="0"/>
              <a:t>t</a:t>
            </a:r>
            <a:r>
              <a:rPr lang="zh-CN" altLang="en-US" sz="2000" dirty="0" smtClean="0"/>
              <a:t>的水面高度；</a:t>
            </a:r>
            <a:r>
              <a:rPr lang="en-US" altLang="zh-CN" sz="2000" dirty="0" smtClean="0"/>
              <a:t>k </a:t>
            </a:r>
            <a:r>
              <a:rPr lang="zh-CN" altLang="en-US" sz="2000" dirty="0" smtClean="0"/>
              <a:t>表示波矢量；</a:t>
            </a:r>
            <a:r>
              <a:rPr lang="en-US" altLang="zh-CN" sz="2000" dirty="0" smtClean="0"/>
              <a:t>h̃(</a:t>
            </a:r>
            <a:r>
              <a:rPr lang="en-US" altLang="zh-CN" sz="2000" dirty="0" err="1" smtClean="0"/>
              <a:t>k,t</a:t>
            </a:r>
            <a:r>
              <a:rPr lang="en-US" altLang="zh-CN" sz="2000" dirty="0" smtClean="0"/>
              <a:t>)</a:t>
            </a:r>
            <a:r>
              <a:rPr lang="zh-CN" altLang="en-US" sz="2000" dirty="0" smtClean="0"/>
              <a:t>表示频域里的波幅，即 </a:t>
            </a:r>
            <a:r>
              <a:rPr lang="en-US" altLang="zh-CN" sz="2000" dirty="0" smtClean="0"/>
              <a:t>k </a:t>
            </a:r>
            <a:r>
              <a:rPr lang="zh-CN" altLang="en-US" sz="2000" dirty="0" smtClean="0"/>
              <a:t>在 </a:t>
            </a:r>
            <a:r>
              <a:rPr lang="en-US" altLang="zh-CN" sz="2000" dirty="0" smtClean="0"/>
              <a:t>t </a:t>
            </a:r>
            <a:r>
              <a:rPr lang="zh-CN" altLang="en-US" sz="2000" dirty="0" smtClean="0"/>
              <a:t>时刻的高度和相位；</a:t>
            </a:r>
            <a:r>
              <a:rPr lang="en-US" altLang="zh-CN" sz="2000" dirty="0" err="1" smtClean="0"/>
              <a:t>exp</a:t>
            </a:r>
            <a:r>
              <a:rPr lang="en-US" altLang="zh-CN" sz="2000" dirty="0" smtClean="0"/>
              <a:t>(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k·x</a:t>
            </a:r>
            <a:r>
              <a:rPr lang="en-US" altLang="zh-CN" sz="2000" dirty="0" smtClean="0"/>
              <a:t>)</a:t>
            </a:r>
            <a:r>
              <a:rPr lang="zh-CN" altLang="en-US" sz="2000" dirty="0" smtClean="0"/>
              <a:t>是正弦波。</a:t>
            </a:r>
            <a:endParaRPr lang="en-US" altLang="zh-CN" sz="2000" dirty="0" smtClean="0"/>
          </a:p>
          <a:p>
            <a:r>
              <a:rPr lang="zh-CN" altLang="en-US" sz="2000" dirty="0" smtClean="0">
                <a:solidFill>
                  <a:srgbClr val="FF0000"/>
                </a:solidFill>
              </a:rPr>
              <a:t>最后对这些波求和，就能得到整个空间域的海面高度</a:t>
            </a:r>
            <a:r>
              <a:rPr lang="en-US" altLang="zh-CN" sz="2000" dirty="0" smtClean="0">
                <a:solidFill>
                  <a:srgbClr val="FF0000"/>
                </a:solidFill>
              </a:rPr>
              <a:t>h(</a:t>
            </a:r>
            <a:r>
              <a:rPr lang="en-US" altLang="zh-CN" sz="2000" b="1" dirty="0" err="1" smtClean="0">
                <a:solidFill>
                  <a:srgbClr val="FF0000"/>
                </a:solidFill>
              </a:rPr>
              <a:t>x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,t</a:t>
            </a:r>
            <a:r>
              <a:rPr lang="en-US" altLang="zh-CN" sz="2000" dirty="0" smtClean="0">
                <a:solidFill>
                  <a:srgbClr val="FF0000"/>
                </a:solidFill>
              </a:rPr>
              <a:t>) </a:t>
            </a:r>
            <a:r>
              <a:rPr lang="zh-CN" altLang="en-US" sz="2000" dirty="0" smtClean="0">
                <a:solidFill>
                  <a:srgbClr val="FF0000"/>
                </a:solidFill>
              </a:rPr>
              <a:t>。</a:t>
            </a:r>
            <a:endParaRPr lang="en-US" altLang="zh-CN" sz="2000" dirty="0" smtClean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但是</a:t>
            </a:r>
            <a:r>
              <a:rPr lang="en-US" altLang="zh-CN" sz="2000" dirty="0"/>
              <a:t>FFT</a:t>
            </a:r>
            <a:r>
              <a:rPr lang="zh-CN" altLang="en-US" sz="2000" dirty="0"/>
              <a:t>生成的海面仍然只是</a:t>
            </a:r>
            <a:r>
              <a:rPr lang="en-US" altLang="zh-CN" sz="2000" dirty="0"/>
              <a:t>Lx </a:t>
            </a:r>
            <a:r>
              <a:rPr lang="en-US" altLang="zh-CN" sz="2000" dirty="0" smtClean="0"/>
              <a:t>× </a:t>
            </a:r>
            <a:r>
              <a:rPr lang="en-US" altLang="zh-CN" sz="2000" dirty="0" err="1" smtClean="0"/>
              <a:t>Lz</a:t>
            </a:r>
            <a:r>
              <a:rPr lang="zh-CN" altLang="en-US" sz="2000" dirty="0" smtClean="0"/>
              <a:t>的水面</a:t>
            </a:r>
            <a:r>
              <a:rPr lang="en-US" altLang="zh-CN" sz="2000" dirty="0" smtClean="0"/>
              <a:t>patch</a:t>
            </a:r>
            <a:r>
              <a:rPr lang="zh-CN" altLang="en-US" sz="2000" dirty="0" smtClean="0"/>
              <a:t>，这个</a:t>
            </a:r>
            <a:r>
              <a:rPr lang="en-US" altLang="zh-CN" sz="2000" dirty="0" smtClean="0"/>
              <a:t>patch</a:t>
            </a:r>
            <a:r>
              <a:rPr lang="zh-CN" altLang="en-US" sz="2000" dirty="0" smtClean="0"/>
              <a:t>会周期重复，也就是</a:t>
            </a:r>
            <a:r>
              <a:rPr lang="en-US" altLang="zh-CN" sz="2000" dirty="0" smtClean="0"/>
              <a:t>tiling</a:t>
            </a:r>
            <a:r>
              <a:rPr lang="zh-CN" altLang="en-US" sz="2000" dirty="0" smtClean="0"/>
              <a:t>。</a:t>
            </a:r>
            <a:endParaRPr lang="en-US" altLang="zh-CN" sz="2000" dirty="0" smtClean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425" y="1983942"/>
            <a:ext cx="4531901" cy="88788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345" y="4672953"/>
            <a:ext cx="5352655" cy="79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047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圆角矩形 30"/>
          <p:cNvSpPr/>
          <p:nvPr/>
        </p:nvSpPr>
        <p:spPr>
          <a:xfrm>
            <a:off x="8550723" y="5879179"/>
            <a:ext cx="3116753" cy="88761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圆角矩形 29"/>
          <p:cNvSpPr/>
          <p:nvPr/>
        </p:nvSpPr>
        <p:spPr>
          <a:xfrm>
            <a:off x="5424699" y="5865453"/>
            <a:ext cx="2602186" cy="88761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圆角矩形 28"/>
          <p:cNvSpPr/>
          <p:nvPr/>
        </p:nvSpPr>
        <p:spPr>
          <a:xfrm>
            <a:off x="2299599" y="5865453"/>
            <a:ext cx="2602186" cy="88761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 err="1" smtClean="0"/>
              <a:t>Tessendorf</a:t>
            </a:r>
            <a:r>
              <a:rPr lang="en-US" altLang="zh-CN" sz="4000" dirty="0" smtClean="0"/>
              <a:t> FFT</a:t>
            </a:r>
            <a:endParaRPr lang="zh-CN" altLang="en-US" sz="4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9019" y="583964"/>
            <a:ext cx="4531901" cy="88788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2218" y="1626741"/>
            <a:ext cx="3252465" cy="867324"/>
          </a:xfrm>
          <a:prstGeom prst="rect">
            <a:avLst/>
          </a:prstGeom>
        </p:spPr>
      </p:pic>
      <p:sp>
        <p:nvSpPr>
          <p:cNvPr id="11" name="圆角矩形 10"/>
          <p:cNvSpPr/>
          <p:nvPr/>
        </p:nvSpPr>
        <p:spPr>
          <a:xfrm>
            <a:off x="838200" y="2791935"/>
            <a:ext cx="7851186" cy="166897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838200" y="1543585"/>
            <a:ext cx="8500672" cy="115872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978590" y="1566924"/>
            <a:ext cx="815362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接着，论文引入了</a:t>
            </a:r>
            <a:r>
              <a:rPr lang="zh-CN" altLang="en-US" sz="2000" b="1" dirty="0" smtClean="0"/>
              <a:t>波谱（</a:t>
            </a:r>
            <a:r>
              <a:rPr lang="en-US" altLang="zh-CN" sz="2000" b="1" dirty="0" smtClean="0"/>
              <a:t>wave spectrum</a:t>
            </a:r>
            <a:r>
              <a:rPr lang="zh-CN" altLang="en-US" sz="2000" b="1" dirty="0" smtClean="0"/>
              <a:t>），</a:t>
            </a:r>
            <a:r>
              <a:rPr lang="zh-CN" altLang="en-US" sz="2000" dirty="0" smtClean="0"/>
              <a:t>用于描述风驱动波的模型。</a:t>
            </a:r>
            <a:endParaRPr lang="en-US" altLang="zh-CN" sz="2000" dirty="0" smtClean="0"/>
          </a:p>
          <a:p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右边的式子是对波谱的定义，表示对</a:t>
            </a:r>
            <a:r>
              <a:rPr lang="zh-CN" altLang="en-US" sz="2000" dirty="0">
                <a:solidFill>
                  <a:srgbClr val="0F1115"/>
                </a:solidFill>
                <a:latin typeface="quote-cjk-patch"/>
              </a:rPr>
              <a:t>某个特定波矢量 </a:t>
            </a:r>
            <a:r>
              <a:rPr lang="en-US" altLang="zh-CN" sz="2000" b="1" dirty="0" smtClean="0">
                <a:solidFill>
                  <a:srgbClr val="0F1115"/>
                </a:solidFill>
                <a:latin typeface="quote-cjk-patch"/>
              </a:rPr>
              <a:t>k</a:t>
            </a:r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，</a:t>
            </a:r>
            <a:r>
              <a:rPr lang="zh-CN" altLang="en-US" sz="2000" dirty="0">
                <a:solidFill>
                  <a:srgbClr val="0F1115"/>
                </a:solidFill>
                <a:latin typeface="quote-cjk-patch"/>
              </a:rPr>
              <a:t>其复数振幅</a:t>
            </a:r>
            <a:r>
              <a:rPr lang="zh-CN" altLang="en-US" sz="2000" b="1" dirty="0">
                <a:solidFill>
                  <a:srgbClr val="0F1115"/>
                </a:solidFill>
                <a:latin typeface="quote-cjk-patch"/>
              </a:rPr>
              <a:t> </a:t>
            </a:r>
            <a:r>
              <a:rPr lang="en-US" altLang="zh-CN" sz="2000" b="1" dirty="0">
                <a:solidFill>
                  <a:srgbClr val="0F1115"/>
                </a:solidFill>
                <a:latin typeface="quote-cjk-patch"/>
              </a:rPr>
              <a:t>h</a:t>
            </a:r>
            <a:r>
              <a:rPr lang="en-US" altLang="zh-CN" sz="2000" b="1" dirty="0" smtClean="0">
                <a:solidFill>
                  <a:srgbClr val="0F1115"/>
                </a:solidFill>
                <a:latin typeface="quote-cjk-patch"/>
              </a:rPr>
              <a:t>~</a:t>
            </a:r>
            <a:r>
              <a:rPr lang="zh-CN" altLang="en-US" sz="2000" dirty="0">
                <a:solidFill>
                  <a:srgbClr val="0F1115"/>
                </a:solidFill>
                <a:latin typeface="quote-cjk-patch"/>
              </a:rPr>
              <a:t> 的模长平方，再取时间上的平均值（用尖括号 </a:t>
            </a:r>
            <a:r>
              <a:rPr lang="en-US" altLang="zh-CN" sz="2000" dirty="0" smtClean="0">
                <a:solidFill>
                  <a:srgbClr val="0F1115"/>
                </a:solidFill>
                <a:latin typeface="quote-cjk-patch"/>
              </a:rPr>
              <a:t>⟨⟩</a:t>
            </a:r>
            <a:r>
              <a:rPr lang="zh-CN" altLang="en-US" sz="2000" dirty="0">
                <a:solidFill>
                  <a:srgbClr val="0F1115"/>
                </a:solidFill>
                <a:latin typeface="quote-cjk-patch"/>
              </a:rPr>
              <a:t> 表示）</a:t>
            </a:r>
          </a:p>
        </p:txBody>
      </p:sp>
      <p:sp>
        <p:nvSpPr>
          <p:cNvPr id="15" name="矩形 14"/>
          <p:cNvSpPr/>
          <p:nvPr/>
        </p:nvSpPr>
        <p:spPr>
          <a:xfrm>
            <a:off x="1076490" y="2799882"/>
            <a:ext cx="761289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/>
              <a:t>Phillips </a:t>
            </a:r>
            <a:r>
              <a:rPr lang="zh-CN" altLang="en-US" sz="2000" b="1" dirty="0" smtClean="0"/>
              <a:t>波谱：</a:t>
            </a:r>
            <a:r>
              <a:rPr lang="zh-CN" altLang="en-US" sz="2000" dirty="0" smtClean="0"/>
              <a:t>通过风速、风向来决定海面上各种波应该有多强</a:t>
            </a:r>
            <a:endParaRPr lang="en-US" altLang="zh-CN" sz="2000" dirty="0" smtClean="0"/>
          </a:p>
          <a:p>
            <a:r>
              <a:rPr lang="zh-CN" altLang="en-US" sz="2000" dirty="0"/>
              <a:t>这是一</a:t>
            </a:r>
            <a:r>
              <a:rPr lang="zh-CN" altLang="en-US" sz="2000" dirty="0" smtClean="0"/>
              <a:t>个半经验模型，</a:t>
            </a:r>
            <a:r>
              <a:rPr lang="en-US" altLang="zh-CN" sz="2000" dirty="0" err="1" smtClean="0"/>
              <a:t>Ph</a:t>
            </a:r>
            <a:r>
              <a:rPr lang="en-US" altLang="zh-CN" sz="2000" dirty="0" smtClean="0"/>
              <a:t>(k)</a:t>
            </a:r>
            <a:r>
              <a:rPr lang="zh-CN" altLang="en-US" sz="2000" dirty="0" smtClean="0"/>
              <a:t>是波谱能量，</a:t>
            </a:r>
            <a:r>
              <a:rPr lang="en-US" altLang="zh-CN" sz="2000" dirty="0" smtClean="0"/>
              <a:t>A</a:t>
            </a:r>
            <a:r>
              <a:rPr lang="zh-CN" altLang="en-US" sz="2000" dirty="0" smtClean="0"/>
              <a:t>是控制整体强度的超参，</a:t>
            </a:r>
            <a:r>
              <a:rPr lang="en-US" altLang="zh-CN" sz="2000" dirty="0" smtClean="0"/>
              <a:t>L </a:t>
            </a:r>
            <a:r>
              <a:rPr lang="zh-CN" altLang="en-US" sz="2000" dirty="0" smtClean="0"/>
              <a:t>是风的最大波长尺度，</a:t>
            </a:r>
            <a:r>
              <a:rPr lang="en-US" altLang="zh-CN" sz="2000" dirty="0" smtClean="0"/>
              <a:t>k̂ · ŵ</a:t>
            </a:r>
            <a:r>
              <a:rPr lang="zh-CN" altLang="en-US" sz="2000" dirty="0" smtClean="0"/>
              <a:t>表示波方向和风向的一致性。</a:t>
            </a:r>
            <a:endParaRPr lang="en-US" altLang="zh-CN" sz="2000" dirty="0" smtClean="0"/>
          </a:p>
          <a:p>
            <a:r>
              <a:rPr lang="zh-CN" altLang="en-US" sz="2000" dirty="0" smtClean="0"/>
              <a:t>其中，</a:t>
            </a:r>
            <a:r>
              <a:rPr lang="en-US" altLang="zh-CN" sz="2000" dirty="0" smtClean="0"/>
              <a:t>L = V² / g</a:t>
            </a:r>
            <a:r>
              <a:rPr lang="zh-CN" altLang="en-US" sz="2000" dirty="0" smtClean="0"/>
              <a:t>，</a:t>
            </a:r>
            <a:r>
              <a:rPr lang="en-US" altLang="zh-CN" sz="2000" dirty="0" smtClean="0"/>
              <a:t>V</a:t>
            </a:r>
            <a:r>
              <a:rPr lang="zh-CN" altLang="en-US" sz="2000" dirty="0" smtClean="0"/>
              <a:t>是风速，风速越大，越能吹出更大的浪；</a:t>
            </a:r>
            <a:endParaRPr lang="en-US" altLang="zh-CN" sz="2000" dirty="0" smtClean="0"/>
          </a:p>
          <a:p>
            <a:r>
              <a:rPr lang="en-US" altLang="zh-CN" sz="2000" dirty="0" err="1" smtClean="0"/>
              <a:t>exp</a:t>
            </a:r>
            <a:r>
              <a:rPr lang="en-US" altLang="zh-CN" sz="2000" dirty="0" smtClean="0"/>
              <a:t>(-1/(</a:t>
            </a:r>
            <a:r>
              <a:rPr lang="en-US" altLang="zh-CN" sz="2000" dirty="0" err="1" smtClean="0"/>
              <a:t>kL</a:t>
            </a:r>
            <a:r>
              <a:rPr lang="en-US" altLang="zh-CN" sz="2000" dirty="0" smtClean="0"/>
              <a:t>)²) </a:t>
            </a:r>
            <a:r>
              <a:rPr lang="zh-CN" altLang="en-US" sz="2000" dirty="0" smtClean="0"/>
              <a:t>用于压制太长的波，当</a:t>
            </a:r>
            <a:r>
              <a:rPr lang="en-US" altLang="zh-CN" sz="2000" dirty="0" smtClean="0"/>
              <a:t>V</a:t>
            </a:r>
            <a:r>
              <a:rPr lang="zh-CN" altLang="en-US" sz="2000" dirty="0" smtClean="0"/>
              <a:t>足够大也不会生成超长波</a:t>
            </a:r>
            <a:endParaRPr lang="en-US" altLang="zh-CN" sz="2000" dirty="0" smtClean="0"/>
          </a:p>
          <a:p>
            <a:endParaRPr lang="zh-CN" altLang="en-US" sz="2000" dirty="0">
              <a:solidFill>
                <a:srgbClr val="0F1115"/>
              </a:solidFill>
              <a:latin typeface="quote-cjk-patch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878261" y="4642362"/>
            <a:ext cx="8354750" cy="11465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1116551" y="4650308"/>
            <a:ext cx="801566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/>
              <a:t>短波处理：</a:t>
            </a:r>
            <a:r>
              <a:rPr lang="zh-CN" altLang="en-US" sz="2000" dirty="0" smtClean="0"/>
              <a:t>论文指出，</a:t>
            </a:r>
            <a:r>
              <a:rPr lang="en-US" altLang="zh-CN" sz="2000" dirty="0" smtClean="0"/>
              <a:t>Phillips </a:t>
            </a:r>
            <a:r>
              <a:rPr lang="zh-CN" altLang="en-US" sz="2000" dirty="0" smtClean="0"/>
              <a:t>谱在高波数 </a:t>
            </a:r>
            <a:r>
              <a:rPr lang="en-US" altLang="zh-CN" sz="2000" dirty="0" smtClean="0"/>
              <a:t>|k| </a:t>
            </a:r>
            <a:r>
              <a:rPr lang="zh-CN" altLang="en-US" sz="2000" dirty="0" smtClean="0"/>
              <a:t>时收敛不好，因此乘以一个额外因子</a:t>
            </a:r>
            <a:r>
              <a:rPr lang="en-US" altLang="zh-CN" sz="2000" dirty="0" err="1" smtClean="0"/>
              <a:t>exp</a:t>
            </a:r>
            <a:r>
              <a:rPr lang="en-US" altLang="zh-CN" sz="2000" dirty="0" smtClean="0"/>
              <a:t>(-k² l²)</a:t>
            </a:r>
            <a:r>
              <a:rPr lang="zh-CN" altLang="en-US" sz="2000" dirty="0" smtClean="0"/>
              <a:t>，当高波数、短波长时，</a:t>
            </a:r>
            <a:r>
              <a:rPr lang="en-US" altLang="zh-CN" sz="2000" dirty="0" err="1" smtClean="0"/>
              <a:t>exp</a:t>
            </a:r>
            <a:r>
              <a:rPr lang="en-US" altLang="zh-CN" sz="2000" dirty="0" smtClean="0"/>
              <a:t>(-k²l²)</a:t>
            </a:r>
            <a:r>
              <a:rPr lang="zh-CN" altLang="en-US" sz="2000" dirty="0" smtClean="0"/>
              <a:t>负责削弱这种高频小波带来的影响（因为太短的波真实中会被表面张力和粘性消散）</a:t>
            </a:r>
            <a:endParaRPr lang="zh-CN" altLang="en-US" sz="2000" dirty="0">
              <a:solidFill>
                <a:srgbClr val="0F1115"/>
              </a:solidFill>
              <a:latin typeface="quote-cjk-patch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9386" y="2992039"/>
            <a:ext cx="3502614" cy="80059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9502" y="4738874"/>
            <a:ext cx="2057895" cy="604153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2528627" y="5954853"/>
            <a:ext cx="22133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/>
              <a:t>Ph</a:t>
            </a:r>
            <a:r>
              <a:rPr lang="en-US" altLang="zh-CN" dirty="0"/>
              <a:t>(k</a:t>
            </a:r>
            <a:r>
              <a:rPr lang="en-US" altLang="zh-CN" dirty="0" smtClean="0"/>
              <a:t>)</a:t>
            </a:r>
            <a:r>
              <a:rPr lang="zh-CN" altLang="en-US" dirty="0" smtClean="0"/>
              <a:t>决定每个 </a:t>
            </a:r>
            <a:r>
              <a:rPr lang="en-US" altLang="zh-CN" dirty="0" smtClean="0"/>
              <a:t>k </a:t>
            </a:r>
            <a:r>
              <a:rPr lang="zh-CN" altLang="en-US" dirty="0" smtClean="0"/>
              <a:t>的初始强度范围</a:t>
            </a:r>
            <a:r>
              <a:rPr lang="en-US" altLang="zh-CN" dirty="0" smtClean="0"/>
              <a:t>h̃0(k)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5935133" y="5954853"/>
            <a:ext cx="15813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h̃(</a:t>
            </a:r>
            <a:r>
              <a:rPr lang="en-US" altLang="zh-CN" dirty="0" err="1" smtClean="0"/>
              <a:t>k,t</a:t>
            </a:r>
            <a:r>
              <a:rPr lang="en-US" altLang="zh-CN" dirty="0" smtClean="0"/>
              <a:t>)</a:t>
            </a:r>
            <a:r>
              <a:rPr lang="zh-CN" altLang="en-US" dirty="0" smtClean="0"/>
              <a:t>让每个波随时间运动</a:t>
            </a:r>
            <a:endParaRPr lang="zh-CN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8709562" y="5999823"/>
            <a:ext cx="29579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IFFT / </a:t>
            </a:r>
            <a:r>
              <a:rPr lang="zh-CN" altLang="en-US" dirty="0" smtClean="0"/>
              <a:t>求和得到空间域真实海面高度</a:t>
            </a:r>
            <a:r>
              <a:rPr lang="en-US" altLang="zh-CN" dirty="0" smtClean="0"/>
              <a:t>h(</a:t>
            </a:r>
            <a:r>
              <a:rPr lang="en-US" altLang="zh-CN" dirty="0" err="1" smtClean="0"/>
              <a:t>x,t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718280" y="6138322"/>
            <a:ext cx="15813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完整流程：</a:t>
            </a:r>
            <a:endParaRPr lang="zh-CN" altLang="en-US" dirty="0"/>
          </a:p>
        </p:txBody>
      </p:sp>
      <p:cxnSp>
        <p:nvCxnSpPr>
          <p:cNvPr id="33" name="直接箭头连接符 32"/>
          <p:cNvCxnSpPr>
            <a:stCxn id="29" idx="3"/>
            <a:endCxn id="30" idx="1"/>
          </p:cNvCxnSpPr>
          <p:nvPr/>
        </p:nvCxnSpPr>
        <p:spPr>
          <a:xfrm>
            <a:off x="4901785" y="6309262"/>
            <a:ext cx="5229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30" idx="3"/>
            <a:endCxn id="31" idx="1"/>
          </p:cNvCxnSpPr>
          <p:nvPr/>
        </p:nvCxnSpPr>
        <p:spPr>
          <a:xfrm>
            <a:off x="8026885" y="6309262"/>
            <a:ext cx="523838" cy="13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4706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17"/>
          <p:cNvSpPr/>
          <p:nvPr/>
        </p:nvSpPr>
        <p:spPr>
          <a:xfrm>
            <a:off x="1403454" y="5346837"/>
            <a:ext cx="6076638" cy="13537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 smtClean="0"/>
              <a:t>Choppy Waves</a:t>
            </a:r>
            <a:endParaRPr lang="zh-CN" altLang="en-US" sz="4000" dirty="0"/>
          </a:p>
        </p:txBody>
      </p:sp>
      <p:sp>
        <p:nvSpPr>
          <p:cNvPr id="9" name="矩形 8"/>
          <p:cNvSpPr/>
          <p:nvPr/>
        </p:nvSpPr>
        <p:spPr>
          <a:xfrm>
            <a:off x="1219200" y="1458189"/>
            <a:ext cx="603603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核心思想：</a:t>
            </a:r>
            <a:r>
              <a:rPr lang="en-US" altLang="zh-CN" sz="2000" dirty="0" smtClean="0"/>
              <a:t>FFT </a:t>
            </a:r>
            <a:r>
              <a:rPr lang="zh-CN" altLang="en-US" sz="2000" dirty="0" smtClean="0"/>
              <a:t>高度场通过</a:t>
            </a:r>
            <a:r>
              <a:rPr lang="en-US" altLang="zh-CN" sz="2000" dirty="0" smtClean="0"/>
              <a:t>h(</a:t>
            </a:r>
            <a:r>
              <a:rPr lang="en-US" altLang="zh-CN" sz="2000" dirty="0" err="1" smtClean="0"/>
              <a:t>x,t</a:t>
            </a:r>
            <a:r>
              <a:rPr lang="en-US" altLang="zh-CN" sz="2000" dirty="0" smtClean="0"/>
              <a:t>)</a:t>
            </a:r>
            <a:r>
              <a:rPr lang="zh-CN" altLang="en-US" sz="2000" dirty="0" smtClean="0"/>
              <a:t>决定水面的高度，导致波形较为圆滑；真实海浪的水面存在水平方向的挤压和拉伸，浪峰附近的水面会被挤到一起，所以浪峰变尖；浪谷附近会被拉开，所以浪谷变宽</a:t>
            </a:r>
            <a:endParaRPr lang="en-US" altLang="zh-CN" sz="2000" dirty="0" smtClean="0"/>
          </a:p>
          <a:p>
            <a:r>
              <a:rPr lang="zh-CN" altLang="en-US" sz="2000" dirty="0" smtClean="0">
                <a:solidFill>
                  <a:srgbClr val="0F1115"/>
                </a:solidFill>
                <a:latin typeface="quote-cjk-patch"/>
              </a:rPr>
              <a:t>因此</a:t>
            </a:r>
            <a:r>
              <a:rPr lang="zh-CN" altLang="en-US" sz="2000" b="1" dirty="0" smtClean="0">
                <a:solidFill>
                  <a:srgbClr val="0F1115"/>
                </a:solidFill>
                <a:latin typeface="quote-cjk-patch"/>
              </a:rPr>
              <a:t>不只改变高度 </a:t>
            </a:r>
            <a:r>
              <a:rPr lang="en-US" altLang="zh-CN" sz="2000" b="1" dirty="0" smtClean="0">
                <a:solidFill>
                  <a:srgbClr val="0F1115"/>
                </a:solidFill>
                <a:latin typeface="quote-cjk-patch"/>
              </a:rPr>
              <a:t>h </a:t>
            </a:r>
            <a:r>
              <a:rPr lang="zh-CN" altLang="en-US" sz="2000" b="1" dirty="0" smtClean="0">
                <a:solidFill>
                  <a:srgbClr val="0F1115"/>
                </a:solidFill>
                <a:latin typeface="quote-cjk-patch"/>
              </a:rPr>
              <a:t>还要改变水平位置 </a:t>
            </a:r>
            <a:r>
              <a:rPr lang="en-US" altLang="zh-CN" sz="2000" b="1" dirty="0" smtClean="0">
                <a:solidFill>
                  <a:srgbClr val="0F1115"/>
                </a:solidFill>
                <a:latin typeface="quote-cjk-patch"/>
              </a:rPr>
              <a:t>x</a:t>
            </a:r>
            <a:endParaRPr lang="zh-CN" altLang="en-US" sz="2000" b="1" dirty="0">
              <a:solidFill>
                <a:srgbClr val="0F1115"/>
              </a:solidFill>
              <a:latin typeface="quote-cjk-patch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403456" y="5416590"/>
            <a:ext cx="60766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但是，当</a:t>
            </a:r>
            <a:r>
              <a:rPr lang="el-GR" altLang="zh-CN" dirty="0" smtClean="0"/>
              <a:t>λ</a:t>
            </a:r>
            <a:r>
              <a:rPr lang="zh-CN" altLang="en-US" dirty="0" smtClean="0"/>
              <a:t>过大时，水面会发生折叠、自交。</a:t>
            </a:r>
            <a:endParaRPr lang="en-US" altLang="zh-CN" dirty="0" smtClean="0"/>
          </a:p>
          <a:p>
            <a:r>
              <a:rPr lang="zh-CN" altLang="en-US" dirty="0" smtClean="0"/>
              <a:t>因此作者通过雅可比行列式 </a:t>
            </a:r>
            <a:r>
              <a:rPr lang="en-US" altLang="zh-CN" dirty="0" smtClean="0"/>
              <a:t>J(x) = </a:t>
            </a:r>
            <a:r>
              <a:rPr lang="en-US" altLang="zh-CN" dirty="0" err="1" smtClean="0"/>
              <a:t>Jxx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Jyy</a:t>
            </a:r>
            <a:r>
              <a:rPr lang="en-US" altLang="zh-CN" dirty="0" smtClean="0"/>
              <a:t> - </a:t>
            </a:r>
            <a:r>
              <a:rPr lang="en-US" altLang="zh-CN" dirty="0" err="1" smtClean="0"/>
              <a:t>Jxy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Jyx</a:t>
            </a:r>
            <a:r>
              <a:rPr lang="zh-CN" altLang="en-US" dirty="0" smtClean="0"/>
              <a:t>衡量；</a:t>
            </a:r>
            <a:endParaRPr lang="en-US" altLang="zh-CN" dirty="0" smtClean="0"/>
          </a:p>
          <a:p>
            <a:r>
              <a:rPr lang="zh-CN" altLang="en-US" dirty="0" smtClean="0"/>
              <a:t>当 </a:t>
            </a:r>
            <a:r>
              <a:rPr lang="en-US" altLang="zh-CN" dirty="0" smtClean="0"/>
              <a:t>J(x) &lt; 0</a:t>
            </a:r>
            <a:r>
              <a:rPr lang="zh-CN" altLang="en-US" dirty="0" smtClean="0"/>
              <a:t>时，代表水面发生重叠或折叠。其中，</a:t>
            </a:r>
            <a:r>
              <a:rPr lang="en-US" altLang="zh-CN" dirty="0" smtClean="0"/>
              <a:t>x</a:t>
            </a:r>
            <a:r>
              <a:rPr lang="zh-CN" altLang="en-US" dirty="0" smtClean="0"/>
              <a:t>，</a:t>
            </a:r>
            <a:r>
              <a:rPr lang="en-US" altLang="zh-CN" dirty="0" smtClean="0"/>
              <a:t>y</a:t>
            </a:r>
            <a:r>
              <a:rPr lang="zh-CN" altLang="en-US" dirty="0"/>
              <a:t>表示</a:t>
            </a:r>
            <a:r>
              <a:rPr lang="zh-CN" altLang="en-US" dirty="0" smtClean="0"/>
              <a:t>论文里的</a:t>
            </a:r>
            <a:r>
              <a:rPr lang="zh-CN" altLang="en-US" b="1" dirty="0" smtClean="0"/>
              <a:t>水平二维坐标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Jxx</a:t>
            </a:r>
            <a:r>
              <a:rPr lang="en-US" altLang="zh-CN" dirty="0" smtClean="0"/>
              <a:t> </a:t>
            </a:r>
            <a:r>
              <a:rPr lang="zh-CN" altLang="en-US" dirty="0" smtClean="0"/>
              <a:t>表示 </a:t>
            </a:r>
            <a:r>
              <a:rPr lang="en-US" altLang="zh-CN" dirty="0" smtClean="0"/>
              <a:t>x </a:t>
            </a:r>
            <a:r>
              <a:rPr lang="zh-CN" altLang="en-US" dirty="0" smtClean="0"/>
              <a:t>方向对 </a:t>
            </a:r>
            <a:r>
              <a:rPr lang="en-US" altLang="zh-CN" dirty="0" smtClean="0"/>
              <a:t>x </a:t>
            </a:r>
            <a:r>
              <a:rPr lang="zh-CN" altLang="en-US" dirty="0" smtClean="0"/>
              <a:t>的变化。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0334" y="199407"/>
            <a:ext cx="4921666" cy="51474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260" y="3141561"/>
            <a:ext cx="4657472" cy="913919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69100" y="4100994"/>
            <a:ext cx="627588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新的水平位置 </a:t>
            </a:r>
            <a:r>
              <a:rPr lang="en-US" altLang="zh-CN" dirty="0" smtClean="0"/>
              <a:t>= x + </a:t>
            </a:r>
            <a:r>
              <a:rPr lang="el-GR" altLang="zh-CN" dirty="0" smtClean="0"/>
              <a:t>λ</a:t>
            </a:r>
            <a:r>
              <a:rPr lang="en-US" altLang="zh-CN" dirty="0" smtClean="0"/>
              <a:t>D(</a:t>
            </a:r>
            <a:r>
              <a:rPr lang="en-US" altLang="zh-CN" dirty="0" err="1" smtClean="0"/>
              <a:t>x,t</a:t>
            </a:r>
            <a:r>
              <a:rPr lang="en-US" altLang="zh-CN" dirty="0" smtClean="0"/>
              <a:t>) </a:t>
            </a:r>
            <a:r>
              <a:rPr lang="zh-CN" altLang="en-US" dirty="0" smtClean="0"/>
              <a:t>，高度仍然用 </a:t>
            </a:r>
            <a:r>
              <a:rPr lang="en-US" altLang="zh-CN" dirty="0" smtClean="0"/>
              <a:t>h(</a:t>
            </a:r>
            <a:r>
              <a:rPr lang="en-US" altLang="zh-CN" dirty="0" err="1" smtClean="0"/>
              <a:t>x,t</a:t>
            </a:r>
            <a:r>
              <a:rPr lang="en-US" altLang="zh-CN" dirty="0" smtClean="0"/>
              <a:t>)</a:t>
            </a:r>
          </a:p>
          <a:p>
            <a:r>
              <a:rPr lang="zh-CN" altLang="en-US" dirty="0" smtClean="0"/>
              <a:t>其中，</a:t>
            </a:r>
            <a:r>
              <a:rPr lang="en-US" altLang="zh-CN" dirty="0" smtClean="0"/>
              <a:t> D(</a:t>
            </a:r>
            <a:r>
              <a:rPr lang="en-US" altLang="zh-CN" dirty="0" err="1" smtClean="0"/>
              <a:t>x,t</a:t>
            </a:r>
            <a:r>
              <a:rPr lang="en-US" altLang="zh-CN" dirty="0" smtClean="0"/>
              <a:t>)</a:t>
            </a:r>
            <a:r>
              <a:rPr lang="zh-CN" altLang="en-US" dirty="0" smtClean="0"/>
              <a:t>表示水平位移向量，</a:t>
            </a:r>
            <a:r>
              <a:rPr lang="en-US" altLang="zh-CN" dirty="0" smtClean="0"/>
              <a:t> </a:t>
            </a:r>
            <a:r>
              <a:rPr lang="en-US" altLang="zh-CN" b="1" dirty="0" smtClean="0"/>
              <a:t>k</a:t>
            </a:r>
            <a:r>
              <a:rPr lang="en-US" altLang="zh-CN" dirty="0" smtClean="0"/>
              <a:t> / |k|</a:t>
            </a:r>
            <a:r>
              <a:rPr lang="zh-CN" altLang="en-US" dirty="0" smtClean="0"/>
              <a:t>表示波的传播方向</a:t>
            </a:r>
            <a:endParaRPr lang="en-US" altLang="zh-CN" dirty="0" smtClean="0"/>
          </a:p>
          <a:p>
            <a:r>
              <a:rPr lang="zh-CN" altLang="en-US" dirty="0" smtClean="0"/>
              <a:t>公式的物理意义是</a:t>
            </a:r>
            <a:r>
              <a:rPr lang="zh-CN" altLang="en-US" b="1" dirty="0" smtClean="0"/>
              <a:t>将所有波沿自己传播方向的水平推动相加</a:t>
            </a:r>
            <a:endParaRPr lang="en-US" altLang="zh-CN" b="1" dirty="0" smtClean="0"/>
          </a:p>
          <a:p>
            <a:r>
              <a:rPr lang="el-GR" altLang="zh-CN" dirty="0" smtClean="0"/>
              <a:t>λ</a:t>
            </a:r>
            <a:r>
              <a:rPr lang="en-US" altLang="zh-CN" dirty="0" smtClean="0"/>
              <a:t>=0</a:t>
            </a:r>
            <a:r>
              <a:rPr lang="zh-CN" altLang="en-US" dirty="0" smtClean="0"/>
              <a:t>，没有</a:t>
            </a:r>
            <a:r>
              <a:rPr lang="en-US" altLang="zh-CN" dirty="0" smtClean="0"/>
              <a:t>choppy</a:t>
            </a:r>
            <a:r>
              <a:rPr lang="zh-CN" altLang="en-US" dirty="0" smtClean="0"/>
              <a:t>；</a:t>
            </a:r>
            <a:r>
              <a:rPr lang="el-GR" altLang="zh-CN" dirty="0" smtClean="0"/>
              <a:t> λ</a:t>
            </a:r>
            <a:r>
              <a:rPr lang="zh-CN" altLang="en-US" dirty="0" smtClean="0"/>
              <a:t>越大，浪峰越尖，浪谷越宽</a:t>
            </a:r>
            <a:endParaRPr lang="zh-CN" altLang="en-US" b="1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/>
          <a:srcRect l="12494" t="27012" r="2966" b="17405"/>
          <a:stretch/>
        </p:blipFill>
        <p:spPr>
          <a:xfrm>
            <a:off x="7832831" y="5527567"/>
            <a:ext cx="3402769" cy="40473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2831" y="6063505"/>
            <a:ext cx="1657143" cy="73333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8533" y="6062921"/>
            <a:ext cx="1828571" cy="7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41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 smtClean="0"/>
              <a:t>Choppy Waves</a:t>
            </a:r>
            <a:endParaRPr lang="zh-CN" altLang="en-US" sz="4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763095" y="-394493"/>
            <a:ext cx="2665808" cy="62420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769657" y="2264754"/>
            <a:ext cx="2652683" cy="6242094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9532871" y="5201135"/>
            <a:ext cx="16706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Choppy Waves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9450098" y="2541887"/>
            <a:ext cx="5261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FFT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60567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 smtClean="0"/>
              <a:t> Interactive Waves from Disturbances (</a:t>
            </a:r>
            <a:r>
              <a:rPr lang="en-US" altLang="zh-CN" sz="4000" dirty="0" err="1" smtClean="0"/>
              <a:t>iWave</a:t>
            </a:r>
            <a:r>
              <a:rPr lang="en-US" altLang="zh-CN" sz="4000" dirty="0" smtClean="0"/>
              <a:t>)</a:t>
            </a:r>
            <a:endParaRPr lang="zh-CN" altLang="en-US" sz="4000" dirty="0"/>
          </a:p>
        </p:txBody>
      </p:sp>
      <p:sp>
        <p:nvSpPr>
          <p:cNvPr id="9" name="矩形 8"/>
          <p:cNvSpPr/>
          <p:nvPr/>
        </p:nvSpPr>
        <p:spPr>
          <a:xfrm>
            <a:off x="1219200" y="1458189"/>
            <a:ext cx="10134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rgbClr val="0F1115"/>
                </a:solidFill>
                <a:latin typeface="quote-cjk-patch"/>
              </a:rPr>
              <a:t>核心需求：</a:t>
            </a:r>
            <a:r>
              <a:rPr lang="en-US" altLang="zh-CN" sz="2000" dirty="0" smtClean="0"/>
              <a:t>FFT </a:t>
            </a:r>
            <a:r>
              <a:rPr lang="zh-CN" altLang="en-US" sz="2000" dirty="0" smtClean="0"/>
              <a:t>的本质是全局频域方法，不适合处理交互情况（船只、落水、水波碰墙等）</a:t>
            </a:r>
            <a:endParaRPr lang="en-US" altLang="zh-CN" sz="2000" dirty="0" smtClean="0"/>
          </a:p>
          <a:p>
            <a:r>
              <a:rPr lang="zh-CN" altLang="en-US" sz="2000" b="1" dirty="0" smtClean="0">
                <a:solidFill>
                  <a:srgbClr val="0F1115"/>
                </a:solidFill>
                <a:latin typeface="quote-cjk-patch"/>
              </a:rPr>
              <a:t>核心思路：</a:t>
            </a:r>
            <a:r>
              <a:rPr lang="zh-CN" altLang="en-US" sz="2000" dirty="0" smtClean="0"/>
              <a:t>在一张二维网格上直接模拟水面高度传播，根据上一帧高度计算下一帧的高度</a:t>
            </a:r>
            <a:endParaRPr lang="zh-CN" altLang="en-US" sz="2000" dirty="0">
              <a:solidFill>
                <a:srgbClr val="0F1115"/>
              </a:solidFill>
              <a:latin typeface="quote-cjk-patch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115" y="2179933"/>
            <a:ext cx="4693508" cy="105604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49116" y="3325373"/>
            <a:ext cx="499172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/>
              <a:t>下一帧的水面高度 </a:t>
            </a:r>
            <a:r>
              <a:rPr lang="en-US" altLang="zh-CN" b="1" dirty="0" smtClean="0"/>
              <a:t>= </a:t>
            </a:r>
            <a:r>
              <a:rPr lang="zh-CN" altLang="en-US" b="1" dirty="0" smtClean="0"/>
              <a:t>当前高度继续往前运动 </a:t>
            </a:r>
            <a:r>
              <a:rPr lang="en-US" altLang="zh-CN" b="1" dirty="0" smtClean="0"/>
              <a:t>+ </a:t>
            </a:r>
            <a:r>
              <a:rPr lang="zh-CN" altLang="en-US" b="1" dirty="0" smtClean="0"/>
              <a:t>根据波动方程产生的传播修正</a:t>
            </a:r>
            <a:endParaRPr lang="en-US" altLang="zh-CN" b="1" dirty="0" smtClean="0"/>
          </a:p>
          <a:p>
            <a:r>
              <a:rPr lang="zh-CN" altLang="en-US" dirty="0" smtClean="0"/>
              <a:t>其中，</a:t>
            </a:r>
            <a:r>
              <a:rPr lang="en-US" altLang="zh-CN" dirty="0" smtClean="0"/>
              <a:t>h(x, t + </a:t>
            </a:r>
            <a:r>
              <a:rPr lang="el-GR" altLang="zh-CN" dirty="0" smtClean="0"/>
              <a:t>Δ</a:t>
            </a:r>
            <a:r>
              <a:rPr lang="en-US" altLang="zh-CN" dirty="0" smtClean="0"/>
              <a:t>t)</a:t>
            </a:r>
            <a:r>
              <a:rPr lang="zh-CN" altLang="en-US" dirty="0" smtClean="0"/>
              <a:t>表示下一帧的水面高度，</a:t>
            </a:r>
            <a:r>
              <a:rPr lang="en-US" altLang="zh-CN" dirty="0" smtClean="0"/>
              <a:t>2h(t) - h(t - </a:t>
            </a:r>
            <a:r>
              <a:rPr lang="el-GR" altLang="zh-CN" dirty="0" smtClean="0"/>
              <a:t>Δ</a:t>
            </a:r>
            <a:r>
              <a:rPr lang="en-US" altLang="zh-CN" dirty="0" smtClean="0"/>
              <a:t>t)</a:t>
            </a:r>
            <a:r>
              <a:rPr lang="zh-CN" altLang="en-US" dirty="0" smtClean="0"/>
              <a:t>表示按照原来的运动趋势继续往前走，</a:t>
            </a:r>
            <a:endParaRPr lang="en-US" altLang="zh-CN" dirty="0" smtClean="0"/>
          </a:p>
          <a:p>
            <a:r>
              <a:rPr lang="en-US" altLang="zh-CN" dirty="0" smtClean="0"/>
              <a:t>- g(</a:t>
            </a:r>
            <a:r>
              <a:rPr lang="el-GR" altLang="zh-CN" dirty="0" smtClean="0"/>
              <a:t>Δ</a:t>
            </a:r>
            <a:r>
              <a:rPr lang="en-US" altLang="zh-CN" dirty="0" smtClean="0"/>
              <a:t>t)² </a:t>
            </a:r>
            <a:r>
              <a:rPr lang="en-US" altLang="zh-CN" dirty="0" err="1" smtClean="0"/>
              <a:t>sqrt</a:t>
            </a:r>
            <a:r>
              <a:rPr lang="en-US" altLang="zh-CN" dirty="0" smtClean="0"/>
              <a:t>(-∇²) h(</a:t>
            </a:r>
            <a:r>
              <a:rPr lang="en-US" altLang="zh-CN" dirty="0" err="1" smtClean="0"/>
              <a:t>x,t</a:t>
            </a:r>
            <a:r>
              <a:rPr lang="en-US" altLang="zh-CN" dirty="0" smtClean="0"/>
              <a:t>)</a:t>
            </a:r>
            <a:r>
              <a:rPr lang="zh-CN" altLang="en-US" dirty="0" smtClean="0"/>
              <a:t>是波传播 </a:t>
            </a:r>
            <a:r>
              <a:rPr lang="en-US" altLang="zh-CN" dirty="0" smtClean="0"/>
              <a:t>/ </a:t>
            </a:r>
            <a:r>
              <a:rPr lang="zh-CN" altLang="en-US" dirty="0" smtClean="0"/>
              <a:t>恢复力项，如果某个地方水面高，周围低，水会受到重力影响向周围传播，形成波。</a:t>
            </a:r>
            <a:endParaRPr lang="en-US" altLang="zh-CN" dirty="0"/>
          </a:p>
          <a:p>
            <a:r>
              <a:rPr lang="zh-CN" altLang="en-US" dirty="0" smtClean="0"/>
              <a:t>浅水时，公式改成</a:t>
            </a:r>
            <a:r>
              <a:rPr lang="en-US" altLang="zh-CN" dirty="0" smtClean="0"/>
              <a:t>g </a:t>
            </a:r>
            <a:r>
              <a:rPr lang="en-US" altLang="zh-CN" dirty="0" err="1" smtClean="0"/>
              <a:t>sqrt</a:t>
            </a:r>
            <a:r>
              <a:rPr lang="en-US" altLang="zh-CN" dirty="0" smtClean="0"/>
              <a:t>(-∇²) </a:t>
            </a:r>
            <a:r>
              <a:rPr lang="en-US" altLang="zh-CN" dirty="0" err="1" smtClean="0"/>
              <a:t>tanh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sqrt</a:t>
            </a:r>
            <a:r>
              <a:rPr lang="en-US" altLang="zh-CN" dirty="0" smtClean="0"/>
              <a:t>(-∇²) D) h</a:t>
            </a:r>
            <a:endParaRPr lang="zh-CN" altLang="en-US" dirty="0"/>
          </a:p>
        </p:txBody>
      </p:sp>
      <p:sp>
        <p:nvSpPr>
          <p:cNvPr id="11" name="圆角矩形 10"/>
          <p:cNvSpPr/>
          <p:nvPr/>
        </p:nvSpPr>
        <p:spPr>
          <a:xfrm>
            <a:off x="2443395" y="5723283"/>
            <a:ext cx="8542353" cy="88761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672423" y="5812683"/>
            <a:ext cx="83133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/>
              <a:t>障碍物：</a:t>
            </a:r>
            <a:r>
              <a:rPr lang="zh-CN" altLang="en-US" dirty="0" smtClean="0"/>
              <a:t>使用</a:t>
            </a:r>
            <a:r>
              <a:rPr lang="en-US" altLang="zh-CN" dirty="0" smtClean="0"/>
              <a:t>mask</a:t>
            </a:r>
            <a:r>
              <a:rPr lang="zh-CN" altLang="en-US" dirty="0" smtClean="0"/>
              <a:t>（黑白图，</a:t>
            </a:r>
            <a:r>
              <a:rPr lang="en-US" altLang="zh-CN" dirty="0" smtClean="0"/>
              <a:t>0</a:t>
            </a:r>
            <a:r>
              <a:rPr lang="zh-CN" altLang="en-US" dirty="0" smtClean="0"/>
              <a:t>表示物体</a:t>
            </a:r>
            <a:r>
              <a:rPr lang="en-US" altLang="zh-CN" dirty="0" smtClean="0"/>
              <a:t>/</a:t>
            </a:r>
            <a:r>
              <a:rPr lang="zh-CN" altLang="en-US" dirty="0" smtClean="0"/>
              <a:t>障碍，</a:t>
            </a:r>
            <a:r>
              <a:rPr lang="en-US" altLang="zh-CN" dirty="0" smtClean="0"/>
              <a:t>1</a:t>
            </a:r>
            <a:r>
              <a:rPr lang="zh-CN" altLang="en-US" dirty="0" smtClean="0"/>
              <a:t>表示水）如果</a:t>
            </a:r>
            <a:r>
              <a:rPr lang="en-US" altLang="zh-CN" dirty="0" smtClean="0"/>
              <a:t>mask = 0</a:t>
            </a:r>
            <a:r>
              <a:rPr lang="zh-CN" altLang="en-US" dirty="0" smtClean="0"/>
              <a:t>就阻挡水波，如果</a:t>
            </a:r>
            <a:r>
              <a:rPr lang="en-US" altLang="zh-CN" dirty="0" smtClean="0"/>
              <a:t>mask = 1</a:t>
            </a:r>
            <a:r>
              <a:rPr lang="zh-CN" altLang="en-US" dirty="0" smtClean="0"/>
              <a:t>就让水波正常传播，这样就可以产生反射、绕射、遮挡</a:t>
            </a:r>
            <a:endParaRPr lang="zh-CN" altLang="en-US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l="5588" r="10190"/>
          <a:stretch/>
        </p:blipFill>
        <p:spPr>
          <a:xfrm rot="16200000">
            <a:off x="8000779" y="1046232"/>
            <a:ext cx="2271462" cy="529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748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 smtClean="0"/>
              <a:t>Surface Wave Optics</a:t>
            </a:r>
            <a:endParaRPr lang="zh-CN" altLang="en-US" sz="4000" dirty="0"/>
          </a:p>
        </p:txBody>
      </p:sp>
      <p:sp>
        <p:nvSpPr>
          <p:cNvPr id="9" name="矩形 8"/>
          <p:cNvSpPr/>
          <p:nvPr/>
        </p:nvSpPr>
        <p:spPr>
          <a:xfrm>
            <a:off x="1219200" y="1458189"/>
            <a:ext cx="10134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rgbClr val="0F1115"/>
                </a:solidFill>
                <a:latin typeface="quote-cjk-patch"/>
              </a:rPr>
              <a:t>核心需求：</a:t>
            </a:r>
            <a:r>
              <a:rPr lang="zh-CN" altLang="en-US" sz="2000" dirty="0" smtClean="0"/>
              <a:t>有了水面形状以后，光线打到水面上会发生什么？反天空？看水下？特别亮？</a:t>
            </a:r>
            <a:endParaRPr lang="en-US" altLang="zh-CN" sz="2000" dirty="0" smtClean="0"/>
          </a:p>
          <a:p>
            <a:r>
              <a:rPr lang="zh-CN" altLang="en-US" sz="2000" b="1" dirty="0" smtClean="0">
                <a:solidFill>
                  <a:srgbClr val="0F1115"/>
                </a:solidFill>
                <a:latin typeface="quote-cjk-patch"/>
              </a:rPr>
              <a:t>核心思路：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水面视觉主要由反射、折射、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Fresnel 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反射率和水面法线决定。</a:t>
            </a:r>
            <a:endParaRPr lang="zh-CN" altLang="en-US" sz="2000" b="1" dirty="0">
              <a:solidFill>
                <a:srgbClr val="FF0000"/>
              </a:solidFill>
              <a:latin typeface="quote-cjk-patch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19200" y="2359830"/>
            <a:ext cx="97665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光线打到水面后，主要分成两部分</a:t>
            </a:r>
            <a:endParaRPr lang="en-US" altLang="zh-CN" dirty="0" smtClean="0"/>
          </a:p>
          <a:p>
            <a:r>
              <a:rPr lang="zh-CN" altLang="en-US" dirty="0" smtClean="0"/>
              <a:t>一部分被反射出去 → 看到天空、太阳、高光、环境反射</a:t>
            </a:r>
            <a:br>
              <a:rPr lang="zh-CN" altLang="en-US" dirty="0" smtClean="0"/>
            </a:br>
            <a:r>
              <a:rPr lang="zh-CN" altLang="en-US" dirty="0" smtClean="0"/>
              <a:t>一部分进入水中或从水下出来 → 看到水体颜色、水下物体、透射光</a:t>
            </a:r>
            <a:endParaRPr lang="en-US" altLang="zh-CN" dirty="0" smtClean="0"/>
          </a:p>
          <a:p>
            <a:r>
              <a:rPr lang="zh-CN" altLang="en-US" dirty="0" smtClean="0"/>
              <a:t>最终颜色 </a:t>
            </a:r>
            <a:r>
              <a:rPr lang="en-US" altLang="zh-CN" dirty="0" smtClean="0"/>
              <a:t>= </a:t>
            </a:r>
            <a:r>
              <a:rPr lang="zh-CN" altLang="en-US" dirty="0" smtClean="0"/>
              <a:t>反射的天空</a:t>
            </a:r>
            <a:r>
              <a:rPr lang="en-US" altLang="zh-CN" dirty="0" smtClean="0"/>
              <a:t>/</a:t>
            </a:r>
            <a:r>
              <a:rPr lang="zh-CN" altLang="en-US" dirty="0" smtClean="0"/>
              <a:t>环境颜色 </a:t>
            </a:r>
            <a:r>
              <a:rPr lang="en-US" altLang="zh-CN" dirty="0" smtClean="0"/>
              <a:t>+</a:t>
            </a:r>
            <a:r>
              <a:rPr lang="en-US" altLang="zh-CN" dirty="0"/>
              <a:t> </a:t>
            </a:r>
            <a:r>
              <a:rPr lang="zh-CN" altLang="en-US" dirty="0" smtClean="0"/>
              <a:t>透射</a:t>
            </a:r>
            <a:r>
              <a:rPr lang="en-US" altLang="zh-CN" dirty="0" smtClean="0"/>
              <a:t>/</a:t>
            </a:r>
            <a:r>
              <a:rPr lang="zh-CN" altLang="en-US" dirty="0" smtClean="0"/>
              <a:t>水体内部颜色，这两部分的比例由 </a:t>
            </a:r>
            <a:r>
              <a:rPr lang="en-US" altLang="zh-CN" b="1" dirty="0" smtClean="0"/>
              <a:t>Fresnel</a:t>
            </a:r>
            <a:r>
              <a:rPr lang="zh-CN" altLang="en-US" dirty="0" smtClean="0"/>
              <a:t> 决定</a:t>
            </a:r>
            <a:endParaRPr lang="zh-CN" altLang="en-US" dirty="0"/>
          </a:p>
        </p:txBody>
      </p:sp>
      <p:sp>
        <p:nvSpPr>
          <p:cNvPr id="11" name="圆角矩形 10"/>
          <p:cNvSpPr/>
          <p:nvPr/>
        </p:nvSpPr>
        <p:spPr>
          <a:xfrm>
            <a:off x="1219199" y="3620527"/>
            <a:ext cx="7358128" cy="96677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219199" y="3663974"/>
            <a:ext cx="746010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/>
              <a:t>水面法线：</a:t>
            </a:r>
            <a:r>
              <a:rPr lang="cy-GB" altLang="zh-CN" dirty="0" smtClean="0"/>
              <a:t>n̂s(x,t) = ( ŷ - </a:t>
            </a:r>
            <a:r>
              <a:rPr lang="el-GR" altLang="zh-CN" dirty="0" smtClean="0"/>
              <a:t>ε(</a:t>
            </a:r>
            <a:r>
              <a:rPr lang="cy-GB" altLang="zh-CN" b="1" dirty="0" smtClean="0"/>
              <a:t>x</a:t>
            </a:r>
            <a:r>
              <a:rPr lang="cy-GB" altLang="zh-CN" dirty="0" smtClean="0"/>
              <a:t>,t) ) / sqrt(1 + </a:t>
            </a:r>
            <a:r>
              <a:rPr lang="el-GR" altLang="zh-CN" dirty="0" smtClean="0"/>
              <a:t>ε²(</a:t>
            </a:r>
            <a:r>
              <a:rPr lang="cy-GB" altLang="zh-CN" b="1" dirty="0" smtClean="0"/>
              <a:t>x</a:t>
            </a:r>
            <a:r>
              <a:rPr lang="cy-GB" altLang="zh-CN" dirty="0" smtClean="0"/>
              <a:t>,t))</a:t>
            </a:r>
          </a:p>
          <a:p>
            <a:r>
              <a:rPr lang="zh-CN" altLang="en-US" dirty="0" smtClean="0"/>
              <a:t>物理意义是水面哪里倾斜，法线向相反方向偏。其中</a:t>
            </a:r>
            <a:r>
              <a:rPr lang="cy-GB" altLang="zh-CN" dirty="0" smtClean="0"/>
              <a:t>ŷ</a:t>
            </a:r>
            <a:r>
              <a:rPr lang="zh-CN" altLang="en-US" dirty="0" smtClean="0"/>
              <a:t>表示竖直向上的单位向量，</a:t>
            </a:r>
            <a:r>
              <a:rPr lang="el-GR" altLang="zh-CN" dirty="0" smtClean="0"/>
              <a:t>ε(</a:t>
            </a:r>
            <a:r>
              <a:rPr lang="en-US" altLang="zh-CN" b="1" dirty="0" err="1" smtClean="0"/>
              <a:t>x</a:t>
            </a:r>
            <a:r>
              <a:rPr lang="en-US" altLang="zh-CN" dirty="0" err="1" smtClean="0"/>
              <a:t>,t</a:t>
            </a:r>
            <a:r>
              <a:rPr lang="en-US" altLang="zh-CN" dirty="0" smtClean="0"/>
              <a:t>)</a:t>
            </a:r>
            <a:r>
              <a:rPr lang="zh-CN" altLang="en-US" dirty="0" smtClean="0"/>
              <a:t>表示水面坡度，</a:t>
            </a:r>
            <a:r>
              <a:rPr lang="en-US" altLang="zh-CN" dirty="0" err="1" smtClean="0"/>
              <a:t>sqrt</a:t>
            </a:r>
            <a:r>
              <a:rPr lang="en-US" altLang="zh-CN" dirty="0" smtClean="0"/>
              <a:t>(1 + </a:t>
            </a:r>
            <a:r>
              <a:rPr lang="el-GR" altLang="zh-CN" dirty="0" smtClean="0"/>
              <a:t>ε²)</a:t>
            </a:r>
            <a:r>
              <a:rPr lang="zh-CN" altLang="en-US" dirty="0" smtClean="0"/>
              <a:t>的作用是归一化，使长度</a:t>
            </a:r>
            <a:r>
              <a:rPr lang="en-US" altLang="zh-CN" dirty="0" smtClean="0"/>
              <a:t>=1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326" y="3663974"/>
            <a:ext cx="3202899" cy="80072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316" y="4820364"/>
            <a:ext cx="3942909" cy="475387"/>
          </a:xfrm>
          <a:prstGeom prst="rect">
            <a:avLst/>
          </a:prstGeom>
        </p:spPr>
      </p:pic>
      <p:sp>
        <p:nvSpPr>
          <p:cNvPr id="13" name="圆角矩形 12"/>
          <p:cNvSpPr/>
          <p:nvPr/>
        </p:nvSpPr>
        <p:spPr>
          <a:xfrm>
            <a:off x="1269622" y="4658453"/>
            <a:ext cx="6567694" cy="96677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269622" y="4695586"/>
            <a:ext cx="656769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/>
              <a:t>反射方向：</a:t>
            </a:r>
            <a:r>
              <a:rPr lang="cy-GB" altLang="zh-CN" dirty="0" smtClean="0"/>
              <a:t>r̂ = î - 2 n̂s (n̂s · î)</a:t>
            </a:r>
          </a:p>
          <a:p>
            <a:r>
              <a:rPr lang="zh-CN" altLang="en-US" dirty="0" smtClean="0"/>
              <a:t>物理意义是入射光线打到水面后，按照“入射角等于反射角”的规则弹出去。</a:t>
            </a:r>
            <a:r>
              <a:rPr lang="en-US" altLang="zh-CN" dirty="0" smtClean="0"/>
              <a:t>Î</a:t>
            </a:r>
            <a:r>
              <a:rPr lang="zh-CN" altLang="en-US" dirty="0" smtClean="0"/>
              <a:t>入射光，</a:t>
            </a:r>
            <a:r>
              <a:rPr lang="en-US" altLang="zh-CN" dirty="0" smtClean="0"/>
              <a:t>r̂</a:t>
            </a:r>
            <a:r>
              <a:rPr lang="zh-CN" altLang="en-US" dirty="0" smtClean="0"/>
              <a:t>反射光，</a:t>
            </a:r>
            <a:r>
              <a:rPr lang="en-US" altLang="zh-CN" dirty="0" err="1" smtClean="0"/>
              <a:t>n̂s</a:t>
            </a:r>
            <a:r>
              <a:rPr lang="zh-CN" altLang="en-US" dirty="0" smtClean="0"/>
              <a:t>水面法线，点乘计算夹角</a:t>
            </a:r>
            <a:endParaRPr lang="zh-CN" altLang="en-US" dirty="0"/>
          </a:p>
        </p:txBody>
      </p:sp>
      <p:sp>
        <p:nvSpPr>
          <p:cNvPr id="15" name="圆角矩形 14"/>
          <p:cNvSpPr/>
          <p:nvPr/>
        </p:nvSpPr>
        <p:spPr>
          <a:xfrm>
            <a:off x="1269621" y="5734853"/>
            <a:ext cx="6907059" cy="96677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269621" y="5771986"/>
            <a:ext cx="690705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折射</a:t>
            </a:r>
            <a:r>
              <a:rPr lang="zh-CN" altLang="en-US" b="1" dirty="0" smtClean="0"/>
              <a:t>方向：</a:t>
            </a:r>
            <a:r>
              <a:rPr lang="fr-FR" altLang="zh-CN" dirty="0" smtClean="0"/>
              <a:t>t̂(x,t) = (ni / nt) î + Γ(x,t) n̂s(x,t)  </a:t>
            </a:r>
            <a:r>
              <a:rPr lang="zh-CN" altLang="en-US" dirty="0" smtClean="0"/>
              <a:t>物理意义是根据斯涅尔定律，光进入介质会因为折射率改变方向。因此给定入射方向</a:t>
            </a:r>
            <a:r>
              <a:rPr lang="en-US" altLang="zh-CN" dirty="0" smtClean="0"/>
              <a:t>î</a:t>
            </a:r>
            <a:r>
              <a:rPr lang="zh-CN" altLang="en-US" dirty="0" smtClean="0"/>
              <a:t> 水面法线</a:t>
            </a:r>
            <a:r>
              <a:rPr lang="fr-FR" altLang="zh-CN" dirty="0" smtClean="0"/>
              <a:t>n̂s </a:t>
            </a:r>
            <a:r>
              <a:rPr lang="zh-CN" altLang="en-US" dirty="0" smtClean="0"/>
              <a:t>入射</a:t>
            </a:r>
            <a:r>
              <a:rPr lang="en-US" altLang="zh-CN" dirty="0" smtClean="0"/>
              <a:t>/</a:t>
            </a:r>
            <a:r>
              <a:rPr lang="zh-CN" altLang="en-US" dirty="0" smtClean="0"/>
              <a:t>投射介质折射率</a:t>
            </a:r>
            <a:r>
              <a:rPr lang="fr-FR" altLang="zh-CN" dirty="0" smtClean="0"/>
              <a:t>ni/nt </a:t>
            </a:r>
            <a:r>
              <a:rPr lang="zh-CN" altLang="en-US" dirty="0" smtClean="0"/>
              <a:t>可得</a:t>
            </a:r>
            <a:r>
              <a:rPr lang="zh-CN" altLang="en-US" dirty="0" smtClean="0"/>
              <a:t>折射方向</a:t>
            </a:r>
            <a:r>
              <a:rPr lang="fr-FR" altLang="zh-CN" dirty="0" smtClean="0"/>
              <a:t>t̂</a:t>
            </a:r>
            <a:endParaRPr lang="zh-CN" altLang="en-US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8929" y="5295751"/>
            <a:ext cx="3219048" cy="14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114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 smtClean="0"/>
              <a:t>Surface Wave Optics - Fresnel </a:t>
            </a:r>
            <a:endParaRPr lang="zh-CN" altLang="en-US" sz="4000" dirty="0"/>
          </a:p>
        </p:txBody>
      </p:sp>
      <p:sp>
        <p:nvSpPr>
          <p:cNvPr id="9" name="矩形 8"/>
          <p:cNvSpPr/>
          <p:nvPr/>
        </p:nvSpPr>
        <p:spPr>
          <a:xfrm>
            <a:off x="1219200" y="1458189"/>
            <a:ext cx="10134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rgbClr val="0F1115"/>
                </a:solidFill>
                <a:latin typeface="quote-cjk-patch"/>
              </a:rPr>
              <a:t>核心需求：</a:t>
            </a:r>
            <a:r>
              <a:rPr lang="zh-CN" altLang="en-US" sz="2000" dirty="0" smtClean="0"/>
              <a:t>有了水面形状以后，光线打到水面上会发生什么？反天空？看水下？特别亮？</a:t>
            </a:r>
            <a:endParaRPr lang="en-US" altLang="zh-CN" sz="2000" dirty="0" smtClean="0"/>
          </a:p>
          <a:p>
            <a:r>
              <a:rPr lang="zh-CN" altLang="en-US" sz="2000" b="1" dirty="0" smtClean="0">
                <a:solidFill>
                  <a:srgbClr val="0F1115"/>
                </a:solidFill>
                <a:latin typeface="quote-cjk-patch"/>
              </a:rPr>
              <a:t>核心思路：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水面视觉主要由反射、折射、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Fresnel 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反射率和水面法线决定。</a:t>
            </a:r>
            <a:endParaRPr lang="zh-CN" altLang="en-US" sz="2000" b="1" dirty="0">
              <a:solidFill>
                <a:srgbClr val="FF0000"/>
              </a:solidFill>
              <a:latin typeface="quote-cjk-patch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19200" y="2359830"/>
            <a:ext cx="99184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由能量守恒 </a:t>
            </a:r>
            <a:r>
              <a:rPr lang="en-US" altLang="zh-CN" dirty="0" smtClean="0"/>
              <a:t>R + T = 1</a:t>
            </a:r>
            <a:r>
              <a:rPr lang="zh-CN" altLang="en-US" dirty="0" smtClean="0"/>
              <a:t>，入射到水面的光，要么反射，要么透射。忽略吸收时，两者加起来等于 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794" y="2783752"/>
            <a:ext cx="4660025" cy="969057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1219200" y="3752809"/>
            <a:ext cx="991849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这就是非偏振光的 </a:t>
            </a:r>
            <a:r>
              <a:rPr lang="en-US" altLang="zh-CN" b="1" dirty="0" smtClean="0"/>
              <a:t>Fresnel </a:t>
            </a:r>
            <a:r>
              <a:rPr lang="zh-CN" altLang="en-US" b="1" dirty="0" smtClean="0"/>
              <a:t>反射率公式</a:t>
            </a:r>
            <a:r>
              <a:rPr lang="zh-CN" altLang="en-US" dirty="0" smtClean="0"/>
              <a:t>。表示光线打到水面时，</a:t>
            </a:r>
            <a:r>
              <a:rPr lang="zh-CN" altLang="en-US" b="1" dirty="0" smtClean="0">
                <a:solidFill>
                  <a:srgbClr val="FF0000"/>
                </a:solidFill>
              </a:rPr>
              <a:t>反射多少不是固定的，而是和观察角度有关。</a:t>
            </a:r>
            <a:r>
              <a:rPr lang="zh-CN" altLang="en-US" dirty="0" smtClean="0"/>
              <a:t>其中，</a:t>
            </a:r>
            <a:r>
              <a:rPr lang="en-US" altLang="zh-CN" dirty="0" smtClean="0"/>
              <a:t>R</a:t>
            </a:r>
            <a:r>
              <a:rPr lang="zh-CN" altLang="en-US" dirty="0" smtClean="0"/>
              <a:t>表示</a:t>
            </a:r>
            <a:r>
              <a:rPr lang="en-US" altLang="zh-CN" dirty="0" smtClean="0"/>
              <a:t>Fresnel </a:t>
            </a:r>
            <a:r>
              <a:rPr lang="zh-CN" altLang="en-US" dirty="0" smtClean="0"/>
              <a:t>反射率，</a:t>
            </a:r>
            <a:r>
              <a:rPr lang="zh-CN" altLang="en-US" dirty="0"/>
              <a:t>反射光强度占入射光强度的</a:t>
            </a:r>
            <a:r>
              <a:rPr lang="zh-CN" altLang="en-US" dirty="0" smtClean="0"/>
              <a:t>比例（</a:t>
            </a:r>
            <a:r>
              <a:rPr lang="en-US" altLang="zh-CN" dirty="0" smtClean="0"/>
              <a:t>0-1</a:t>
            </a:r>
            <a:r>
              <a:rPr lang="zh-CN" altLang="en-US" dirty="0" smtClean="0"/>
              <a:t>），</a:t>
            </a:r>
            <a:r>
              <a:rPr lang="el-GR" altLang="zh-CN" dirty="0" smtClean="0"/>
              <a:t>θ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表示入射角，</a:t>
            </a:r>
            <a:r>
              <a:rPr lang="el-GR" altLang="zh-CN" dirty="0" smtClean="0"/>
              <a:t>θ</a:t>
            </a:r>
            <a:r>
              <a:rPr lang="en-US" altLang="zh-CN" dirty="0" smtClean="0"/>
              <a:t>t</a:t>
            </a:r>
            <a:r>
              <a:rPr lang="zh-CN" altLang="en-US" dirty="0" smtClean="0"/>
              <a:t>表示折射角。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物理意义：正对水面看时，反射弱，更多看到水下 </a:t>
            </a:r>
            <a:r>
              <a:rPr lang="en-US" altLang="zh-CN" dirty="0" smtClean="0"/>
              <a:t>/ </a:t>
            </a:r>
            <a:r>
              <a:rPr lang="zh-CN" altLang="en-US" dirty="0" smtClean="0"/>
              <a:t>水体颜色；</a:t>
            </a:r>
            <a:endParaRPr lang="en-US" altLang="zh-CN" dirty="0" smtClean="0"/>
          </a:p>
          <a:p>
            <a:r>
              <a:rPr lang="en-US" altLang="zh-CN" dirty="0"/>
              <a:t>	</a:t>
            </a:r>
            <a:r>
              <a:rPr lang="en-US" altLang="zh-CN" dirty="0" smtClean="0"/>
              <a:t>    </a:t>
            </a:r>
            <a:r>
              <a:rPr lang="zh-CN" altLang="en-US" dirty="0" smtClean="0"/>
              <a:t>贴着水面看时，反射强，更多看到天空 </a:t>
            </a:r>
            <a:r>
              <a:rPr lang="en-US" altLang="zh-CN" dirty="0" smtClean="0"/>
              <a:t>/ </a:t>
            </a:r>
            <a:r>
              <a:rPr lang="zh-CN" altLang="en-US" dirty="0" smtClean="0"/>
              <a:t>环境</a:t>
            </a:r>
            <a:endParaRPr lang="en-US" altLang="zh-CN" dirty="0" smtClean="0"/>
          </a:p>
          <a:p>
            <a:r>
              <a:rPr lang="zh-CN" altLang="en-US" dirty="0" smtClean="0"/>
              <a:t>此外，若从水下看水面，当超过</a:t>
            </a:r>
            <a:r>
              <a:rPr lang="en-US" altLang="zh-CN" dirty="0" smtClean="0"/>
              <a:t>48.6°</a:t>
            </a:r>
            <a:r>
              <a:rPr lang="zh-CN" altLang="en-US" dirty="0" smtClean="0"/>
              <a:t>时，会发生全反射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           </a:t>
            </a:r>
            <a:r>
              <a:rPr lang="zh-CN" altLang="en-US" dirty="0" smtClean="0"/>
              <a:t>（因为折射角小于入射角），水面仅反射水下世界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894" y="4721866"/>
            <a:ext cx="4074885" cy="192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058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 smtClean="0"/>
              <a:t>Surface Wave Optics - Fresnel </a:t>
            </a:r>
            <a:endParaRPr lang="zh-CN" altLang="en-US" sz="4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323" y="474796"/>
            <a:ext cx="4660025" cy="96905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881672" y="1579187"/>
            <a:ext cx="5094085" cy="5042759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426485" y="2404885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通用塑料表面着色器模拟水面</a:t>
            </a:r>
          </a:p>
        </p:txBody>
      </p:sp>
      <p:sp>
        <p:nvSpPr>
          <p:cNvPr id="10" name="矩形 9"/>
          <p:cNvSpPr/>
          <p:nvPr/>
        </p:nvSpPr>
        <p:spPr>
          <a:xfrm>
            <a:off x="8306564" y="4730858"/>
            <a:ext cx="37208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加入</a:t>
            </a:r>
            <a:r>
              <a:rPr lang="en-US" altLang="zh-CN" dirty="0" smtClean="0"/>
              <a:t>Fresnel</a:t>
            </a:r>
            <a:r>
              <a:rPr lang="zh-CN" altLang="en-US" dirty="0" smtClean="0"/>
              <a:t>反射</a:t>
            </a:r>
            <a:r>
              <a:rPr lang="en-US" altLang="zh-CN" dirty="0" smtClean="0"/>
              <a:t>/</a:t>
            </a:r>
            <a:r>
              <a:rPr lang="zh-CN" altLang="en-US" dirty="0" smtClean="0"/>
              <a:t>天空</a:t>
            </a:r>
            <a:r>
              <a:rPr lang="en-US" altLang="zh-CN" dirty="0" smtClean="0"/>
              <a:t>/</a:t>
            </a:r>
            <a:r>
              <a:rPr lang="zh-CN" altLang="en-US" dirty="0" smtClean="0"/>
              <a:t>水体颜色</a:t>
            </a:r>
            <a:endParaRPr lang="en-US" altLang="zh-CN" dirty="0" smtClean="0"/>
          </a:p>
          <a:p>
            <a:r>
              <a:rPr lang="zh-CN" altLang="en-US" dirty="0"/>
              <a:t>可以</a:t>
            </a:r>
            <a:r>
              <a:rPr lang="zh-CN" altLang="en-US" dirty="0" smtClean="0"/>
              <a:t>看到上方浪峰接近掠射，反射率高，因此看起来更像镜面；</a:t>
            </a:r>
            <a:endParaRPr lang="en-US" altLang="zh-CN" dirty="0" smtClean="0"/>
          </a:p>
          <a:p>
            <a:r>
              <a:rPr lang="zh-CN" altLang="en-US" dirty="0" smtClean="0"/>
              <a:t>侧面接近正入射，反射率低，看起来更透明</a:t>
            </a:r>
            <a:r>
              <a:rPr lang="en-US" altLang="zh-CN" dirty="0" smtClean="0"/>
              <a:t>/</a:t>
            </a:r>
            <a:r>
              <a:rPr lang="zh-CN" altLang="en-US" dirty="0" smtClean="0"/>
              <a:t>更蓝。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8220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角矩形 15"/>
          <p:cNvSpPr/>
          <p:nvPr/>
        </p:nvSpPr>
        <p:spPr>
          <a:xfrm>
            <a:off x="838201" y="5441429"/>
            <a:ext cx="5382718" cy="115469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838201" y="4074872"/>
            <a:ext cx="5382718" cy="124596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 smtClean="0"/>
              <a:t>Water Volume Effects</a:t>
            </a:r>
            <a:endParaRPr lang="zh-CN" altLang="en-US" sz="4000" dirty="0"/>
          </a:p>
        </p:txBody>
      </p:sp>
      <p:sp>
        <p:nvSpPr>
          <p:cNvPr id="7" name="矩形 6"/>
          <p:cNvSpPr/>
          <p:nvPr/>
        </p:nvSpPr>
        <p:spPr>
          <a:xfrm>
            <a:off x="1079293" y="1458189"/>
            <a:ext cx="1089784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rgbClr val="0F1115"/>
                </a:solidFill>
                <a:latin typeface="quote-cjk-patch"/>
              </a:rPr>
              <a:t>核心思路：</a:t>
            </a:r>
            <a:r>
              <a:rPr lang="zh-CN" altLang="en-US" sz="2000" dirty="0" smtClean="0"/>
              <a:t>阳光进入水里以后，会遇到水分子、泥沙等障碍物，发生吸收或者散射，所以从水下看，会看到远处越来越暗，深处显蓝绿色，阳光形成束状的</a:t>
            </a:r>
            <a:r>
              <a:rPr lang="en-US" altLang="zh-CN" sz="2000" dirty="0" smtClean="0"/>
              <a:t>god rays</a:t>
            </a:r>
            <a:r>
              <a:rPr lang="zh-CN" altLang="en-US" sz="2000" dirty="0" smtClean="0"/>
              <a:t>，水底明暗交错的</a:t>
            </a:r>
            <a:r>
              <a:rPr lang="en-US" altLang="zh-CN" sz="2000" dirty="0" smtClean="0"/>
              <a:t>caustics</a:t>
            </a:r>
          </a:p>
          <a:p>
            <a:endParaRPr lang="en-US" altLang="zh-CN" sz="2000" b="1" dirty="0" smtClean="0">
              <a:solidFill>
                <a:srgbClr val="FF0000"/>
              </a:solidFill>
              <a:latin typeface="quote-cjk-patch"/>
            </a:endParaRPr>
          </a:p>
          <a:p>
            <a:r>
              <a:rPr lang="en-US" altLang="zh-CN" sz="2000" dirty="0" smtClean="0"/>
              <a:t>1. absorption coefficient</a:t>
            </a:r>
            <a:r>
              <a:rPr lang="zh-CN" altLang="en-US" sz="2000" dirty="0" smtClean="0"/>
              <a:t>：吸收系数 </a:t>
            </a:r>
            <a:r>
              <a:rPr lang="en-US" altLang="zh-CN" sz="2000" dirty="0" smtClean="0"/>
              <a:t>a</a:t>
            </a:r>
            <a:r>
              <a:rPr lang="zh-CN" altLang="en-US" sz="2000" dirty="0" smtClean="0"/>
              <a:t>，光在水里走一段距离，被水体吸收掉的速度</a:t>
            </a:r>
            <a:r>
              <a:rPr lang="en-US" altLang="zh-CN" sz="2000" dirty="0" smtClean="0"/>
              <a:t/>
            </a:r>
            <a:br>
              <a:rPr lang="en-US" altLang="zh-CN" sz="2000" dirty="0" smtClean="0"/>
            </a:br>
            <a:r>
              <a:rPr lang="en-US" altLang="zh-CN" sz="2000" dirty="0" smtClean="0"/>
              <a:t>2. scattering coefficient</a:t>
            </a:r>
            <a:r>
              <a:rPr lang="zh-CN" altLang="en-US" sz="2000" dirty="0" smtClean="0"/>
              <a:t>：散射系数 </a:t>
            </a:r>
            <a:r>
              <a:rPr lang="en-US" altLang="zh-CN" sz="2000" dirty="0" smtClean="0"/>
              <a:t>b</a:t>
            </a:r>
            <a:r>
              <a:rPr lang="zh-CN" altLang="en-US" sz="2000" dirty="0" smtClean="0"/>
              <a:t>，光在水里走一段距离，被水中颗粒打散的速度</a:t>
            </a:r>
            <a:endParaRPr lang="en-US" altLang="zh-CN" sz="2000" dirty="0" smtClean="0"/>
          </a:p>
          <a:p>
            <a:r>
              <a:rPr lang="en-US" altLang="zh-CN" sz="2000" dirty="0" smtClean="0"/>
              <a:t>3. extinction coefficient</a:t>
            </a:r>
            <a:r>
              <a:rPr lang="zh-CN" altLang="en-US" sz="2000" dirty="0" smtClean="0"/>
              <a:t>：消光系数 </a:t>
            </a:r>
            <a:r>
              <a:rPr lang="en-US" altLang="zh-CN" sz="2000" dirty="0" smtClean="0"/>
              <a:t>c</a:t>
            </a:r>
            <a:r>
              <a:rPr lang="zh-CN" altLang="en-US" sz="2000" dirty="0" smtClean="0"/>
              <a:t>，</a:t>
            </a:r>
            <a:r>
              <a:rPr lang="en-US" altLang="zh-CN" sz="2000" dirty="0" smtClean="0"/>
              <a:t>c = a + b</a:t>
            </a:r>
            <a:br>
              <a:rPr lang="en-US" altLang="zh-CN" sz="2000" dirty="0" smtClean="0"/>
            </a:br>
            <a:r>
              <a:rPr lang="en-US" altLang="zh-CN" sz="2000" dirty="0" smtClean="0"/>
              <a:t>4. diffuse extinction coefficient</a:t>
            </a:r>
            <a:r>
              <a:rPr lang="zh-CN" altLang="en-US" sz="2000" dirty="0" smtClean="0"/>
              <a:t>：漫射消光系数 </a:t>
            </a:r>
            <a:r>
              <a:rPr lang="en-US" altLang="zh-CN" sz="2000" dirty="0" smtClean="0"/>
              <a:t>K</a:t>
            </a:r>
            <a:r>
              <a:rPr lang="zh-CN" altLang="en-US" sz="2000" dirty="0" smtClean="0"/>
              <a:t>，</a:t>
            </a:r>
            <a:r>
              <a:rPr lang="en-US" altLang="zh-CN" sz="2000" dirty="0" smtClean="0"/>
              <a:t>a &lt; K &lt; c</a:t>
            </a:r>
            <a:r>
              <a:rPr lang="zh-CN" altLang="en-US" sz="2000" dirty="0" smtClean="0"/>
              <a:t>（散射仍有能量存在）</a:t>
            </a:r>
            <a:r>
              <a:rPr lang="en-US" altLang="zh-CN" sz="2000" dirty="0" smtClean="0"/>
              <a:t/>
            </a:r>
            <a:br>
              <a:rPr lang="en-US" altLang="zh-CN" sz="2000" dirty="0" smtClean="0"/>
            </a:br>
            <a:r>
              <a:rPr lang="en-US" altLang="zh-CN" sz="2000" dirty="0" smtClean="0"/>
              <a:t>5. bulk reflectivity</a:t>
            </a:r>
            <a:r>
              <a:rPr lang="zh-CN" altLang="en-US" sz="2000" dirty="0" smtClean="0"/>
              <a:t>：体积整体反射率，简化参数，目的是防止精确模拟水体内部每一次散射</a:t>
            </a:r>
            <a:endParaRPr lang="en-US" altLang="zh-CN" sz="2000" dirty="0" smtClean="0"/>
          </a:p>
          <a:p>
            <a:endParaRPr lang="en-US" altLang="zh-CN" sz="2000" b="1" dirty="0">
              <a:solidFill>
                <a:srgbClr val="FF0000"/>
              </a:solidFill>
              <a:latin typeface="quote-cjk-patch"/>
            </a:endParaRPr>
          </a:p>
          <a:p>
            <a:endParaRPr lang="zh-CN" altLang="en-US" sz="2000" b="1" dirty="0">
              <a:solidFill>
                <a:srgbClr val="FF0000"/>
              </a:solidFill>
              <a:latin typeface="quote-cjk-patch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028" y="3964261"/>
            <a:ext cx="4970772" cy="2556908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7151929" y="648866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浅</a:t>
            </a:r>
            <a:r>
              <a:rPr lang="zh-CN" altLang="en-US" dirty="0" smtClean="0"/>
              <a:t>水焦散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9567844" y="648866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深</a:t>
            </a:r>
            <a:r>
              <a:rPr lang="zh-CN" altLang="en-US" dirty="0" smtClean="0"/>
              <a:t>水焦散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079291" y="4074872"/>
            <a:ext cx="53037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/>
              <a:t>Caustics</a:t>
            </a:r>
            <a:r>
              <a:rPr lang="zh-CN" altLang="en-US" b="1" dirty="0" smtClean="0"/>
              <a:t>：</a:t>
            </a:r>
            <a:r>
              <a:rPr lang="en-US" altLang="zh-CN" dirty="0" smtClean="0"/>
              <a:t>I = Ref I0</a:t>
            </a:r>
          </a:p>
          <a:p>
            <a:r>
              <a:rPr lang="zh-CN" altLang="en-US" dirty="0" smtClean="0"/>
              <a:t>其中，</a:t>
            </a:r>
            <a:r>
              <a:rPr lang="en-US" altLang="zh-CN" dirty="0" smtClean="0"/>
              <a:t>I </a:t>
            </a:r>
            <a:r>
              <a:rPr lang="zh-CN" altLang="en-US" dirty="0" smtClean="0"/>
              <a:t>表示焦散光强，</a:t>
            </a:r>
            <a:r>
              <a:rPr lang="en-US" altLang="zh-CN" dirty="0" smtClean="0"/>
              <a:t>I0</a:t>
            </a:r>
            <a:r>
              <a:rPr lang="zh-CN" altLang="en-US" dirty="0" smtClean="0"/>
              <a:t>表示入射光强，</a:t>
            </a:r>
            <a:r>
              <a:rPr lang="en-US" altLang="zh-CN" dirty="0" smtClean="0"/>
              <a:t>Ref</a:t>
            </a:r>
            <a:r>
              <a:rPr lang="zh-CN" altLang="en-US" dirty="0" smtClean="0"/>
              <a:t>表示这个地方光线被聚焦了还是被发散了。物理意义：</a:t>
            </a:r>
            <a:r>
              <a:rPr lang="zh-CN" altLang="en-US" b="1" dirty="0" smtClean="0"/>
              <a:t>水底焦散亮度 </a:t>
            </a:r>
            <a:r>
              <a:rPr lang="en-US" altLang="zh-CN" b="1" dirty="0" smtClean="0"/>
              <a:t>= </a:t>
            </a:r>
            <a:r>
              <a:rPr lang="zh-CN" altLang="en-US" b="1" dirty="0" smtClean="0"/>
              <a:t>原始阳光强度 </a:t>
            </a:r>
            <a:r>
              <a:rPr lang="en-US" altLang="zh-CN" b="1" dirty="0" smtClean="0"/>
              <a:t>× </a:t>
            </a:r>
            <a:r>
              <a:rPr lang="zh-CN" altLang="en-US" b="1" dirty="0" smtClean="0"/>
              <a:t>水面聚焦效果</a:t>
            </a:r>
            <a:endParaRPr lang="zh-CN" altLang="en-US" b="1" dirty="0"/>
          </a:p>
        </p:txBody>
      </p:sp>
      <p:sp>
        <p:nvSpPr>
          <p:cNvPr id="12" name="矩形 11"/>
          <p:cNvSpPr/>
          <p:nvPr/>
        </p:nvSpPr>
        <p:spPr>
          <a:xfrm>
            <a:off x="1079291" y="5395790"/>
            <a:ext cx="53037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/>
              <a:t>God Rays</a:t>
            </a:r>
            <a:r>
              <a:rPr lang="zh-CN" altLang="en-US" b="1" dirty="0" smtClean="0"/>
              <a:t>：</a:t>
            </a:r>
            <a:r>
              <a:rPr lang="zh-CN" altLang="en-US" dirty="0" smtClean="0"/>
              <a:t>光线穿过水体时被水中颗粒散射</a:t>
            </a:r>
            <a:br>
              <a:rPr lang="zh-CN" altLang="en-US" dirty="0" smtClean="0"/>
            </a:br>
            <a:r>
              <a:rPr lang="en-US" altLang="zh-CN" dirty="0" smtClean="0"/>
              <a:t>1. </a:t>
            </a:r>
            <a:r>
              <a:rPr lang="zh-CN" altLang="en-US" dirty="0" smtClean="0"/>
              <a:t>有强烈方向性的阳光</a:t>
            </a:r>
          </a:p>
          <a:p>
            <a:r>
              <a:rPr lang="en-US" altLang="zh-CN" dirty="0" smtClean="0"/>
              <a:t>2. </a:t>
            </a:r>
            <a:r>
              <a:rPr lang="zh-CN" altLang="en-US" dirty="0" smtClean="0"/>
              <a:t>水面把阳光折射</a:t>
            </a:r>
            <a:r>
              <a:rPr lang="en-US" altLang="zh-CN" dirty="0" smtClean="0"/>
              <a:t>/</a:t>
            </a:r>
            <a:r>
              <a:rPr lang="zh-CN" altLang="en-US" dirty="0" smtClean="0"/>
              <a:t>聚焦成一束束区域</a:t>
            </a:r>
          </a:p>
          <a:p>
            <a:r>
              <a:rPr lang="en-US" altLang="zh-CN" dirty="0" smtClean="0"/>
              <a:t>3. </a:t>
            </a:r>
            <a:r>
              <a:rPr lang="zh-CN" altLang="en-US" dirty="0" smtClean="0"/>
              <a:t>水中有散射颗粒，让这束光被相机看见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79376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4125" y="1122363"/>
            <a:ext cx="9878517" cy="2387600"/>
          </a:xfrm>
        </p:spPr>
        <p:txBody>
          <a:bodyPr>
            <a:normAutofit/>
          </a:bodyPr>
          <a:lstStyle/>
          <a:p>
            <a:r>
              <a:rPr lang="en-US" altLang="zh-CN" sz="5400" dirty="0" smtClean="0"/>
              <a:t>2.Vulkan </a:t>
            </a:r>
            <a:r>
              <a:rPr lang="en-US" altLang="zh-CN" sz="5400" dirty="0" err="1" smtClean="0"/>
              <a:t>WaterSurface</a:t>
            </a:r>
            <a:r>
              <a:rPr lang="en-US" altLang="zh-CN" sz="5400" dirty="0" smtClean="0"/>
              <a:t> Renderer</a:t>
            </a:r>
            <a:endParaRPr lang="zh-CN" altLang="en-US" sz="5400" dirty="0"/>
          </a:p>
        </p:txBody>
      </p:sp>
    </p:spTree>
    <p:extLst>
      <p:ext uri="{BB962C8B-B14F-4D97-AF65-F5344CB8AC3E}">
        <p14:creationId xmlns:p14="http://schemas.microsoft.com/office/powerpoint/2010/main" val="4239779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8699</TotalTime>
  <Words>2614</Words>
  <Application>Microsoft Office PowerPoint</Application>
  <PresentationFormat>宽屏</PresentationFormat>
  <Paragraphs>157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quote-cjk-patch</vt:lpstr>
      <vt:lpstr>等线</vt:lpstr>
      <vt:lpstr>等线 Light</vt:lpstr>
      <vt:lpstr>Arial</vt:lpstr>
      <vt:lpstr>Office 主题​​</vt:lpstr>
      <vt:lpstr>WaterSurfaceRender</vt:lpstr>
      <vt:lpstr>1. Simulating Ocean Water</vt:lpstr>
      <vt:lpstr>Navier-Stokes Equations</vt:lpstr>
      <vt:lpstr>Incompressible Navier-Stokes Equations</vt:lpstr>
      <vt:lpstr>Bernoulli’s equation</vt:lpstr>
      <vt:lpstr>Bernoulli’s equation</vt:lpstr>
      <vt:lpstr>Laplace equation</vt:lpstr>
      <vt:lpstr>Linearization</vt:lpstr>
      <vt:lpstr>Dispersion（色散）</vt:lpstr>
      <vt:lpstr>Gerstner Waves</vt:lpstr>
      <vt:lpstr>Gerstner Waves</vt:lpstr>
      <vt:lpstr>Tessendorf FFT (Fast Fourier Transform)</vt:lpstr>
      <vt:lpstr>Tessendorf FFT</vt:lpstr>
      <vt:lpstr>Choppy Waves</vt:lpstr>
      <vt:lpstr>Choppy Waves</vt:lpstr>
      <vt:lpstr> Interactive Waves from Disturbances (iWave)</vt:lpstr>
      <vt:lpstr>Surface Wave Optics</vt:lpstr>
      <vt:lpstr>Surface Wave Optics - Fresnel </vt:lpstr>
      <vt:lpstr>Surface Wave Optics - Fresnel </vt:lpstr>
      <vt:lpstr>Water Volume Effects</vt:lpstr>
      <vt:lpstr>2.Vulkan WaterSurface Renderer</vt:lpstr>
    </vt:vector>
  </TitlesOfParts>
  <Company>Netease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许科恒</dc:creator>
  <cp:lastModifiedBy>许科恒</cp:lastModifiedBy>
  <cp:revision>177</cp:revision>
  <dcterms:created xsi:type="dcterms:W3CDTF">2026-06-30T07:23:38Z</dcterms:created>
  <dcterms:modified xsi:type="dcterms:W3CDTF">2026-07-06T08:23:02Z</dcterms:modified>
</cp:coreProperties>
</file>